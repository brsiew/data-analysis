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105" d="100"/>
          <a:sy n="105" d="100"/>
        </p:scale>
        <p:origin x="54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DE3E7F-B3FE-4C51-8BDE-A4EE383787E9}" type="datetimeFigureOut">
              <a:rPr lang="en-MY" smtClean="0"/>
              <a:t>27/1/2025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C291A-7D40-4325-8F71-1B02FF66508D}" type="slidenum">
              <a:rPr lang="en-MY" smtClean="0"/>
              <a:t>‹#›</a:t>
            </a:fld>
            <a:endParaRPr lang="en-MY"/>
          </a:p>
        </p:txBody>
      </p:sp>
    </p:spTree>
    <p:extLst>
      <p:ext uri="{BB962C8B-B14F-4D97-AF65-F5344CB8AC3E}">
        <p14:creationId xmlns:p14="http://schemas.microsoft.com/office/powerpoint/2010/main" val="4211196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0D1C291A-7D40-4325-8F71-1B02FF66508D}" type="slidenum">
              <a:rPr lang="en-MY" smtClean="0"/>
              <a:t>7</a:t>
            </a:fld>
            <a:endParaRPr lang="en-MY"/>
          </a:p>
        </p:txBody>
      </p:sp>
    </p:spTree>
    <p:extLst>
      <p:ext uri="{BB962C8B-B14F-4D97-AF65-F5344CB8AC3E}">
        <p14:creationId xmlns:p14="http://schemas.microsoft.com/office/powerpoint/2010/main" val="23063226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3F9E-A0FB-EBC5-9A91-8816E4BCA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6A0CB-E521-51E5-2CCC-0A06469D7D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E611D-EDA4-5153-6AF3-39E0400B9D18}"/>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907B9214-2A15-9FA2-A852-D619A49D780F}"/>
              </a:ext>
            </a:extLst>
          </p:cNvPr>
          <p:cNvSpPr>
            <a:spLocks noGrp="1"/>
          </p:cNvSpPr>
          <p:nvPr>
            <p:ph type="sldNum" sz="quarter" idx="5"/>
          </p:nvPr>
        </p:nvSpPr>
        <p:spPr/>
        <p:txBody>
          <a:bodyPr/>
          <a:lstStyle/>
          <a:p>
            <a:fld id="{0D1C291A-7D40-4325-8F71-1B02FF66508D}" type="slidenum">
              <a:rPr lang="en-MY" smtClean="0"/>
              <a:t>9</a:t>
            </a:fld>
            <a:endParaRPr lang="en-MY"/>
          </a:p>
        </p:txBody>
      </p:sp>
    </p:spTree>
    <p:extLst>
      <p:ext uri="{BB962C8B-B14F-4D97-AF65-F5344CB8AC3E}">
        <p14:creationId xmlns:p14="http://schemas.microsoft.com/office/powerpoint/2010/main" val="2451570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76F90-6A10-A709-4B6D-16581EB06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E8A63-26A5-14AF-E61F-88DA5AF1E1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8078A4-2D3D-E9BA-7650-B2AA587B480B}"/>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179311D2-D3F3-5D41-14D4-575DE23B2B2A}"/>
              </a:ext>
            </a:extLst>
          </p:cNvPr>
          <p:cNvSpPr>
            <a:spLocks noGrp="1"/>
          </p:cNvSpPr>
          <p:nvPr>
            <p:ph type="sldNum" sz="quarter" idx="5"/>
          </p:nvPr>
        </p:nvSpPr>
        <p:spPr/>
        <p:txBody>
          <a:bodyPr/>
          <a:lstStyle/>
          <a:p>
            <a:fld id="{0D1C291A-7D40-4325-8F71-1B02FF66508D}" type="slidenum">
              <a:rPr lang="en-MY" smtClean="0"/>
              <a:t>10</a:t>
            </a:fld>
            <a:endParaRPr lang="en-MY"/>
          </a:p>
        </p:txBody>
      </p:sp>
    </p:spTree>
    <p:extLst>
      <p:ext uri="{BB962C8B-B14F-4D97-AF65-F5344CB8AC3E}">
        <p14:creationId xmlns:p14="http://schemas.microsoft.com/office/powerpoint/2010/main" val="2657199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A1817-6490-A01D-6A07-02F289A2A5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467C8C-DC33-EABB-F86E-8F7E05D777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3AAAA-DCFD-B8CB-FC64-5BF0E8335235}"/>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6B1DCC57-1AC1-9148-F77C-EF328A739576}"/>
              </a:ext>
            </a:extLst>
          </p:cNvPr>
          <p:cNvSpPr>
            <a:spLocks noGrp="1"/>
          </p:cNvSpPr>
          <p:nvPr>
            <p:ph type="sldNum" sz="quarter" idx="5"/>
          </p:nvPr>
        </p:nvSpPr>
        <p:spPr/>
        <p:txBody>
          <a:bodyPr/>
          <a:lstStyle/>
          <a:p>
            <a:fld id="{0D1C291A-7D40-4325-8F71-1B02FF66508D}" type="slidenum">
              <a:rPr lang="en-MY" smtClean="0"/>
              <a:t>11</a:t>
            </a:fld>
            <a:endParaRPr lang="en-MY"/>
          </a:p>
        </p:txBody>
      </p:sp>
    </p:spTree>
    <p:extLst>
      <p:ext uri="{BB962C8B-B14F-4D97-AF65-F5344CB8AC3E}">
        <p14:creationId xmlns:p14="http://schemas.microsoft.com/office/powerpoint/2010/main" val="660733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656F7-D1DF-706A-38A1-53523E2DBC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0AE4B-E0BC-F95B-2904-9576A2336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D727CB-66AE-6B31-5B7B-114253216F1A}"/>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83C20AB6-BF3D-893B-CBC9-880AB2694A5A}"/>
              </a:ext>
            </a:extLst>
          </p:cNvPr>
          <p:cNvSpPr>
            <a:spLocks noGrp="1"/>
          </p:cNvSpPr>
          <p:nvPr>
            <p:ph type="sldNum" sz="quarter" idx="5"/>
          </p:nvPr>
        </p:nvSpPr>
        <p:spPr/>
        <p:txBody>
          <a:bodyPr/>
          <a:lstStyle/>
          <a:p>
            <a:fld id="{0D1C291A-7D40-4325-8F71-1B02FF66508D}" type="slidenum">
              <a:rPr lang="en-MY" smtClean="0"/>
              <a:t>12</a:t>
            </a:fld>
            <a:endParaRPr lang="en-MY"/>
          </a:p>
        </p:txBody>
      </p:sp>
    </p:spTree>
    <p:extLst>
      <p:ext uri="{BB962C8B-B14F-4D97-AF65-F5344CB8AC3E}">
        <p14:creationId xmlns:p14="http://schemas.microsoft.com/office/powerpoint/2010/main" val="2204606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3BB32-7DB2-E6F4-3588-992B6F4CDC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477A0-0113-3D76-5619-BF156DFF57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24F30-937A-5601-3DBD-25BE185D9BB7}"/>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FC464517-C902-C6B6-7690-E22851E4B3FA}"/>
              </a:ext>
            </a:extLst>
          </p:cNvPr>
          <p:cNvSpPr>
            <a:spLocks noGrp="1"/>
          </p:cNvSpPr>
          <p:nvPr>
            <p:ph type="sldNum" sz="quarter" idx="5"/>
          </p:nvPr>
        </p:nvSpPr>
        <p:spPr/>
        <p:txBody>
          <a:bodyPr/>
          <a:lstStyle/>
          <a:p>
            <a:fld id="{0D1C291A-7D40-4325-8F71-1B02FF66508D}" type="slidenum">
              <a:rPr lang="en-MY" smtClean="0"/>
              <a:t>13</a:t>
            </a:fld>
            <a:endParaRPr lang="en-MY"/>
          </a:p>
        </p:txBody>
      </p:sp>
    </p:spTree>
    <p:extLst>
      <p:ext uri="{BB962C8B-B14F-4D97-AF65-F5344CB8AC3E}">
        <p14:creationId xmlns:p14="http://schemas.microsoft.com/office/powerpoint/2010/main" val="2064387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9C184-E334-86A9-0BFB-27DF2668E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10BE7-0415-0370-E764-1D73446254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6F577A-270D-7B4F-F224-0E9302EF86FE}"/>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555A96C7-15FD-D0D6-2F9C-F9F7FE2B1911}"/>
              </a:ext>
            </a:extLst>
          </p:cNvPr>
          <p:cNvSpPr>
            <a:spLocks noGrp="1"/>
          </p:cNvSpPr>
          <p:nvPr>
            <p:ph type="sldNum" sz="quarter" idx="5"/>
          </p:nvPr>
        </p:nvSpPr>
        <p:spPr/>
        <p:txBody>
          <a:bodyPr/>
          <a:lstStyle/>
          <a:p>
            <a:fld id="{0D1C291A-7D40-4325-8F71-1B02FF66508D}" type="slidenum">
              <a:rPr lang="en-MY" smtClean="0"/>
              <a:t>14</a:t>
            </a:fld>
            <a:endParaRPr lang="en-MY"/>
          </a:p>
        </p:txBody>
      </p:sp>
    </p:spTree>
    <p:extLst>
      <p:ext uri="{BB962C8B-B14F-4D97-AF65-F5344CB8AC3E}">
        <p14:creationId xmlns:p14="http://schemas.microsoft.com/office/powerpoint/2010/main" val="20265649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7657A-C829-7CF4-2280-4EE2663480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003F79-0204-10D4-C43F-04B4894DB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C29F6A-F35D-F113-77D1-2426DE02C89C}"/>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2452F586-6228-088E-7DF3-FD0DB8495D27}"/>
              </a:ext>
            </a:extLst>
          </p:cNvPr>
          <p:cNvSpPr>
            <a:spLocks noGrp="1"/>
          </p:cNvSpPr>
          <p:nvPr>
            <p:ph type="sldNum" sz="quarter" idx="5"/>
          </p:nvPr>
        </p:nvSpPr>
        <p:spPr/>
        <p:txBody>
          <a:bodyPr/>
          <a:lstStyle/>
          <a:p>
            <a:fld id="{0D1C291A-7D40-4325-8F71-1B02FF66508D}" type="slidenum">
              <a:rPr lang="en-MY" smtClean="0"/>
              <a:t>15</a:t>
            </a:fld>
            <a:endParaRPr lang="en-MY"/>
          </a:p>
        </p:txBody>
      </p:sp>
    </p:spTree>
    <p:extLst>
      <p:ext uri="{BB962C8B-B14F-4D97-AF65-F5344CB8AC3E}">
        <p14:creationId xmlns:p14="http://schemas.microsoft.com/office/powerpoint/2010/main" val="1218747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453C6-C3B2-B390-4EE4-64CE8A4C5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1691E-E2B3-C175-7DFD-FABABDD61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81B5C-43C0-9DDC-12B0-C294C81E4A5A}"/>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83479FF3-5835-76AA-09D5-DFFFFDD484FB}"/>
              </a:ext>
            </a:extLst>
          </p:cNvPr>
          <p:cNvSpPr>
            <a:spLocks noGrp="1"/>
          </p:cNvSpPr>
          <p:nvPr>
            <p:ph type="sldNum" sz="quarter" idx="5"/>
          </p:nvPr>
        </p:nvSpPr>
        <p:spPr/>
        <p:txBody>
          <a:bodyPr/>
          <a:lstStyle/>
          <a:p>
            <a:fld id="{0D1C291A-7D40-4325-8F71-1B02FF66508D}" type="slidenum">
              <a:rPr lang="en-MY" smtClean="0"/>
              <a:t>16</a:t>
            </a:fld>
            <a:endParaRPr lang="en-MY"/>
          </a:p>
        </p:txBody>
      </p:sp>
    </p:spTree>
    <p:extLst>
      <p:ext uri="{BB962C8B-B14F-4D97-AF65-F5344CB8AC3E}">
        <p14:creationId xmlns:p14="http://schemas.microsoft.com/office/powerpoint/2010/main" val="3689973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GB"/>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349BCA4-38FB-4C59-8D49-F98F19C5E6A1}" type="datetimeFigureOut">
              <a:rPr lang="en-MY" smtClean="0"/>
              <a:t>27/1/2025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4176099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49BCA4-38FB-4C59-8D49-F98F19C5E6A1}" type="datetimeFigureOut">
              <a:rPr lang="en-MY" smtClean="0"/>
              <a:t>27/1/2025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3276865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349BCA4-38FB-4C59-8D49-F98F19C5E6A1}" type="datetimeFigureOut">
              <a:rPr lang="en-MY" smtClean="0"/>
              <a:t>27/1/2025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3424501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349BCA4-38FB-4C59-8D49-F98F19C5E6A1}" type="datetimeFigureOut">
              <a:rPr lang="en-MY" smtClean="0"/>
              <a:t>27/1/2025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3665869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349BCA4-38FB-4C59-8D49-F98F19C5E6A1}" type="datetimeFigureOut">
              <a:rPr lang="en-MY" smtClean="0"/>
              <a:t>27/1/2025</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3858896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349BCA4-38FB-4C59-8D49-F98F19C5E6A1}" type="datetimeFigureOut">
              <a:rPr lang="en-MY" smtClean="0"/>
              <a:t>27/1/2025</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228066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9BCA4-38FB-4C59-8D49-F98F19C5E6A1}" type="datetimeFigureOut">
              <a:rPr lang="en-MY" smtClean="0"/>
              <a:t>27/1/2025</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3139311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GB"/>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349BCA4-38FB-4C59-8D49-F98F19C5E6A1}" type="datetimeFigureOut">
              <a:rPr lang="en-MY" smtClean="0"/>
              <a:t>27/1/2025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2247789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349BCA4-38FB-4C59-8D49-F98F19C5E6A1}" type="datetimeFigureOut">
              <a:rPr lang="en-MY" smtClean="0"/>
              <a:t>27/1/2025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3312476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49BCA4-38FB-4C59-8D49-F98F19C5E6A1}" type="datetimeFigureOut">
              <a:rPr lang="en-MY" smtClean="0"/>
              <a:t>27/1/2025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1618783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49BCA4-38FB-4C59-8D49-F98F19C5E6A1}" type="datetimeFigureOut">
              <a:rPr lang="en-MY" smtClean="0"/>
              <a:t>27/1/2025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1024105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49BCA4-38FB-4C59-8D49-F98F19C5E6A1}" type="datetimeFigureOut">
              <a:rPr lang="en-MY" smtClean="0"/>
              <a:t>27/1/2025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8F3C9892-FFA2-463F-AC1D-309D18D53802}" type="slidenum">
              <a:rPr lang="en-MY" smtClean="0"/>
              <a:t>‹#›</a:t>
            </a:fld>
            <a:endParaRPr lang="en-MY"/>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65846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349BCA4-38FB-4C59-8D49-F98F19C5E6A1}" type="datetimeFigureOut">
              <a:rPr lang="en-MY" smtClean="0"/>
              <a:t>27/1/2025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28119389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F349BCA4-38FB-4C59-8D49-F98F19C5E6A1}" type="datetimeFigureOut">
              <a:rPr lang="en-MY" smtClean="0"/>
              <a:t>27/1/2025</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1615386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F349BCA4-38FB-4C59-8D49-F98F19C5E6A1}" type="datetimeFigureOut">
              <a:rPr lang="en-MY" smtClean="0"/>
              <a:t>27/1/2025</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852019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49BCA4-38FB-4C59-8D49-F98F19C5E6A1}" type="datetimeFigureOut">
              <a:rPr lang="en-MY" smtClean="0"/>
              <a:t>27/1/2025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21794107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349BCA4-38FB-4C59-8D49-F98F19C5E6A1}" type="datetimeFigureOut">
              <a:rPr lang="en-MY" smtClean="0"/>
              <a:t>27/1/2025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8F3C9892-FFA2-463F-AC1D-309D18D53802}" type="slidenum">
              <a:rPr lang="en-MY" smtClean="0"/>
              <a:t>‹#›</a:t>
            </a:fld>
            <a:endParaRPr lang="en-MY"/>
          </a:p>
        </p:txBody>
      </p:sp>
    </p:spTree>
    <p:extLst>
      <p:ext uri="{BB962C8B-B14F-4D97-AF65-F5344CB8AC3E}">
        <p14:creationId xmlns:p14="http://schemas.microsoft.com/office/powerpoint/2010/main" val="2530212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349BCA4-38FB-4C59-8D49-F98F19C5E6A1}" type="datetimeFigureOut">
              <a:rPr lang="en-MY" smtClean="0"/>
              <a:t>27/1/2025</a:t>
            </a:fld>
            <a:endParaRPr lang="en-MY"/>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MY"/>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8F3C9892-FFA2-463F-AC1D-309D18D53802}" type="slidenum">
              <a:rPr lang="en-MY" smtClean="0"/>
              <a:t>‹#›</a:t>
            </a:fld>
            <a:endParaRPr lang="en-MY"/>
          </a:p>
        </p:txBody>
      </p:sp>
    </p:spTree>
    <p:extLst>
      <p:ext uri="{BB962C8B-B14F-4D97-AF65-F5344CB8AC3E}">
        <p14:creationId xmlns:p14="http://schemas.microsoft.com/office/powerpoint/2010/main" val="104018664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2.xml"/><Relationship Id="rId5" Type="http://schemas.openxmlformats.org/officeDocument/2006/relationships/image" Target="../media/image9.tmp"/><Relationship Id="rId4" Type="http://schemas.openxmlformats.org/officeDocument/2006/relationships/image" Target="../media/image8.tmp"/></Relationships>
</file>

<file path=ppt/slides/_rels/slide4.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2.xml"/><Relationship Id="rId4" Type="http://schemas.openxmlformats.org/officeDocument/2006/relationships/image" Target="../media/image12.tmp"/></Relationships>
</file>

<file path=ppt/slides/_rels/slide5.xml.rels><?xml version="1.0" encoding="UTF-8" standalone="yes"?>
<Relationships xmlns="http://schemas.openxmlformats.org/package/2006/relationships"><Relationship Id="rId3" Type="http://schemas.openxmlformats.org/officeDocument/2006/relationships/image" Target="../media/image11.tmp"/><Relationship Id="rId7" Type="http://schemas.openxmlformats.org/officeDocument/2006/relationships/image" Target="../media/image15.tmp"/><Relationship Id="rId2" Type="http://schemas.openxmlformats.org/officeDocument/2006/relationships/image" Target="../media/image10.tmp"/><Relationship Id="rId1" Type="http://schemas.openxmlformats.org/officeDocument/2006/relationships/slideLayout" Target="../slideLayouts/slideLayout2.xml"/><Relationship Id="rId6" Type="http://schemas.openxmlformats.org/officeDocument/2006/relationships/image" Target="../media/image14.tmp"/><Relationship Id="rId5" Type="http://schemas.openxmlformats.org/officeDocument/2006/relationships/image" Target="../media/image13.tmp"/><Relationship Id="rId4" Type="http://schemas.openxmlformats.org/officeDocument/2006/relationships/image" Target="../media/image12.tmp"/></Relationships>
</file>

<file path=ppt/slides/_rels/slide6.xml.rels><?xml version="1.0" encoding="UTF-8" standalone="yes"?>
<Relationships xmlns="http://schemas.openxmlformats.org/package/2006/relationships"><Relationship Id="rId8" Type="http://schemas.openxmlformats.org/officeDocument/2006/relationships/image" Target="../media/image16.tmp"/><Relationship Id="rId3" Type="http://schemas.openxmlformats.org/officeDocument/2006/relationships/image" Target="../media/image11.tmp"/><Relationship Id="rId7" Type="http://schemas.openxmlformats.org/officeDocument/2006/relationships/image" Target="../media/image15.tmp"/><Relationship Id="rId2" Type="http://schemas.openxmlformats.org/officeDocument/2006/relationships/image" Target="../media/image10.tmp"/><Relationship Id="rId1" Type="http://schemas.openxmlformats.org/officeDocument/2006/relationships/slideLayout" Target="../slideLayouts/slideLayout2.xml"/><Relationship Id="rId6" Type="http://schemas.openxmlformats.org/officeDocument/2006/relationships/image" Target="../media/image14.tmp"/><Relationship Id="rId5" Type="http://schemas.openxmlformats.org/officeDocument/2006/relationships/image" Target="../media/image13.tmp"/><Relationship Id="rId10" Type="http://schemas.openxmlformats.org/officeDocument/2006/relationships/image" Target="../media/image18.tmp"/><Relationship Id="rId4" Type="http://schemas.openxmlformats.org/officeDocument/2006/relationships/image" Target="../media/image12.tmp"/><Relationship Id="rId9" Type="http://schemas.openxmlformats.org/officeDocument/2006/relationships/image" Target="../media/image17.tmp"/></Relationships>
</file>

<file path=ppt/slides/_rels/slide7.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0.tm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2.tmp"/></Relationships>
</file>

<file path=ppt/slides/_rels/slide10.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tmp"/><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6.tmp"/></Relationships>
</file>

<file path=ppt/slides/_rels/slide13.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tmp"/><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tmp"/><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91140-0A28-5899-2EF5-9FBF736AFB19}"/>
              </a:ext>
            </a:extLst>
          </p:cNvPr>
          <p:cNvSpPr>
            <a:spLocks noGrp="1"/>
          </p:cNvSpPr>
          <p:nvPr>
            <p:ph type="ctrTitle"/>
          </p:nvPr>
        </p:nvSpPr>
        <p:spPr/>
        <p:txBody>
          <a:bodyPr/>
          <a:lstStyle/>
          <a:p>
            <a:r>
              <a:rPr lang="en-GB" dirty="0"/>
              <a:t>Amazon Top 50 Best Sellers Summary</a:t>
            </a:r>
            <a:endParaRPr lang="en-MY" dirty="0"/>
          </a:p>
        </p:txBody>
      </p:sp>
      <p:sp>
        <p:nvSpPr>
          <p:cNvPr id="3" name="Subtitle 2">
            <a:extLst>
              <a:ext uri="{FF2B5EF4-FFF2-40B4-BE49-F238E27FC236}">
                <a16:creationId xmlns:a16="http://schemas.microsoft.com/office/drawing/2014/main" id="{A1104694-29DF-4B43-7108-79F6BA5C427E}"/>
              </a:ext>
            </a:extLst>
          </p:cNvPr>
          <p:cNvSpPr>
            <a:spLocks noGrp="1"/>
          </p:cNvSpPr>
          <p:nvPr>
            <p:ph type="subTitle" idx="1"/>
          </p:nvPr>
        </p:nvSpPr>
        <p:spPr/>
        <p:txBody>
          <a:bodyPr/>
          <a:lstStyle/>
          <a:p>
            <a:r>
              <a:rPr lang="en-GB" dirty="0"/>
              <a:t>By Beng Ren Siew</a:t>
            </a:r>
            <a:endParaRPr lang="en-MY" dirty="0"/>
          </a:p>
        </p:txBody>
      </p:sp>
    </p:spTree>
    <p:extLst>
      <p:ext uri="{BB962C8B-B14F-4D97-AF65-F5344CB8AC3E}">
        <p14:creationId xmlns:p14="http://schemas.microsoft.com/office/powerpoint/2010/main" val="1284631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71E8-07C5-D6EC-98D6-998C8A0C4ACD}"/>
              </a:ext>
            </a:extLst>
          </p:cNvPr>
          <p:cNvSpPr>
            <a:spLocks noGrp="1"/>
          </p:cNvSpPr>
          <p:nvPr>
            <p:ph type="title"/>
          </p:nvPr>
        </p:nvSpPr>
        <p:spPr/>
        <p:txBody>
          <a:bodyPr/>
          <a:lstStyle/>
          <a:p>
            <a:r>
              <a:rPr lang="en-GB" sz="5400" dirty="0"/>
              <a:t>Overview</a:t>
            </a:r>
            <a:endParaRPr lang="en-MY" dirty="0"/>
          </a:p>
        </p:txBody>
      </p:sp>
      <p:sp>
        <p:nvSpPr>
          <p:cNvPr id="3" name="Content Placeholder 2">
            <a:extLst>
              <a:ext uri="{FF2B5EF4-FFF2-40B4-BE49-F238E27FC236}">
                <a16:creationId xmlns:a16="http://schemas.microsoft.com/office/drawing/2014/main" id="{446D46EF-7682-FFDA-C7A8-A48A944754F8}"/>
              </a:ext>
            </a:extLst>
          </p:cNvPr>
          <p:cNvSpPr>
            <a:spLocks noGrp="1"/>
          </p:cNvSpPr>
          <p:nvPr>
            <p:ph idx="1"/>
          </p:nvPr>
        </p:nvSpPr>
        <p:spPr/>
        <p:txBody>
          <a:bodyPr>
            <a:normAutofit/>
          </a:bodyPr>
          <a:lstStyle/>
          <a:p>
            <a:pPr marL="36900" indent="0">
              <a:buNone/>
            </a:pPr>
            <a:r>
              <a:rPr lang="en-GB" sz="1800" dirty="0"/>
              <a:t>The dataset is a collection of data for the Top 50 Best Sellers of books from 2009-2019 . The overall dataset contains 550 rows of data.</a:t>
            </a:r>
          </a:p>
          <a:p>
            <a:pPr marL="36900" indent="0">
              <a:buNone/>
            </a:pPr>
            <a:endParaRPr lang="en-GB" sz="1800" dirty="0"/>
          </a:p>
          <a:p>
            <a:pPr marL="36900" indent="0">
              <a:buNone/>
            </a:pPr>
            <a:r>
              <a:rPr lang="en-MY" sz="1800" dirty="0"/>
              <a:t>The information that is provided are:</a:t>
            </a:r>
          </a:p>
          <a:p>
            <a:pPr>
              <a:buFontTx/>
              <a:buChar char="-"/>
            </a:pPr>
            <a:r>
              <a:rPr lang="en-MY" sz="1800" dirty="0"/>
              <a:t>Name (title of the book)</a:t>
            </a:r>
          </a:p>
          <a:p>
            <a:pPr>
              <a:buFontTx/>
              <a:buChar char="-"/>
            </a:pPr>
            <a:r>
              <a:rPr lang="en-MY" sz="1800" dirty="0"/>
              <a:t>Author</a:t>
            </a:r>
          </a:p>
          <a:p>
            <a:pPr>
              <a:buFontTx/>
              <a:buChar char="-"/>
            </a:pPr>
            <a:r>
              <a:rPr lang="en-MY" sz="1800" dirty="0"/>
              <a:t>User rating</a:t>
            </a:r>
          </a:p>
          <a:p>
            <a:pPr>
              <a:buFontTx/>
              <a:buChar char="-"/>
            </a:pPr>
            <a:r>
              <a:rPr lang="en-MY" sz="1800" dirty="0"/>
              <a:t>Reviews (number of reviews)</a:t>
            </a:r>
          </a:p>
          <a:p>
            <a:pPr>
              <a:buFontTx/>
              <a:buChar char="-"/>
            </a:pPr>
            <a:r>
              <a:rPr lang="en-MY" sz="1800" dirty="0"/>
              <a:t>Year (year that it is in Top 50)</a:t>
            </a:r>
          </a:p>
          <a:p>
            <a:pPr>
              <a:buFontTx/>
              <a:buChar char="-"/>
            </a:pPr>
            <a:r>
              <a:rPr lang="en-MY" sz="1800" dirty="0"/>
              <a:t>Genre (whether it is fiction or non-fiction)</a:t>
            </a:r>
          </a:p>
          <a:p>
            <a:pPr>
              <a:buFontTx/>
              <a:buChar char="-"/>
            </a:pPr>
            <a:endParaRPr lang="en-MY" sz="1800" dirty="0"/>
          </a:p>
        </p:txBody>
      </p:sp>
    </p:spTree>
    <p:extLst>
      <p:ext uri="{BB962C8B-B14F-4D97-AF65-F5344CB8AC3E}">
        <p14:creationId xmlns:p14="http://schemas.microsoft.com/office/powerpoint/2010/main" val="1026010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7CBC-C4BA-BA8A-A742-437E95B68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9ADC2-06FC-0879-D513-4EDEF45167B5}"/>
              </a:ext>
            </a:extLst>
          </p:cNvPr>
          <p:cNvSpPr>
            <a:spLocks noGrp="1"/>
          </p:cNvSpPr>
          <p:nvPr>
            <p:ph type="title"/>
          </p:nvPr>
        </p:nvSpPr>
        <p:spPr/>
        <p:txBody>
          <a:bodyPr>
            <a:normAutofit fontScale="90000"/>
          </a:bodyPr>
          <a:lstStyle/>
          <a:p>
            <a:r>
              <a:rPr lang="en-GB" sz="5400" dirty="0"/>
              <a:t>Summaries: Fiction and Non-Fiction</a:t>
            </a:r>
            <a:endParaRPr lang="en-MY" dirty="0"/>
          </a:p>
        </p:txBody>
      </p:sp>
      <p:pic>
        <p:nvPicPr>
          <p:cNvPr id="7" name="Picture 6">
            <a:extLst>
              <a:ext uri="{FF2B5EF4-FFF2-40B4-BE49-F238E27FC236}">
                <a16:creationId xmlns:a16="http://schemas.microsoft.com/office/drawing/2014/main" id="{041791AD-5C30-9009-8DB7-4DD51728B2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4586" y="2461384"/>
            <a:ext cx="634833" cy="513270"/>
          </a:xfrm>
          <a:prstGeom prst="rect">
            <a:avLst/>
          </a:prstGeom>
        </p:spPr>
      </p:pic>
      <p:pic>
        <p:nvPicPr>
          <p:cNvPr id="9" name="Picture 8">
            <a:extLst>
              <a:ext uri="{FF2B5EF4-FFF2-40B4-BE49-F238E27FC236}">
                <a16:creationId xmlns:a16="http://schemas.microsoft.com/office/drawing/2014/main" id="{25D56FD2-CCCB-BE8E-2ED1-3BA00D076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4649" y="2461384"/>
            <a:ext cx="913870" cy="513270"/>
          </a:xfrm>
          <a:prstGeom prst="rect">
            <a:avLst/>
          </a:prstGeom>
        </p:spPr>
      </p:pic>
      <p:pic>
        <p:nvPicPr>
          <p:cNvPr id="13" name="Picture 12">
            <a:extLst>
              <a:ext uri="{FF2B5EF4-FFF2-40B4-BE49-F238E27FC236}">
                <a16:creationId xmlns:a16="http://schemas.microsoft.com/office/drawing/2014/main" id="{94A4BD4F-6203-05F0-FEE5-8C650CB5EF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7016" y="2461384"/>
            <a:ext cx="4667901" cy="2010056"/>
          </a:xfrm>
          <a:prstGeom prst="rect">
            <a:avLst/>
          </a:prstGeom>
        </p:spPr>
      </p:pic>
      <p:pic>
        <p:nvPicPr>
          <p:cNvPr id="15" name="Picture 14">
            <a:extLst>
              <a:ext uri="{FF2B5EF4-FFF2-40B4-BE49-F238E27FC236}">
                <a16:creationId xmlns:a16="http://schemas.microsoft.com/office/drawing/2014/main" id="{1B90B774-B890-73FB-DB12-E1460497F7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14219" y="2461384"/>
            <a:ext cx="5130430" cy="2010056"/>
          </a:xfrm>
          <a:prstGeom prst="rect">
            <a:avLst/>
          </a:prstGeom>
        </p:spPr>
      </p:pic>
      <p:sp>
        <p:nvSpPr>
          <p:cNvPr id="16" name="TextBox 15">
            <a:extLst>
              <a:ext uri="{FF2B5EF4-FFF2-40B4-BE49-F238E27FC236}">
                <a16:creationId xmlns:a16="http://schemas.microsoft.com/office/drawing/2014/main" id="{FC8D6B0E-EBDC-F2EA-4F91-FC8900CB09FE}"/>
              </a:ext>
            </a:extLst>
          </p:cNvPr>
          <p:cNvSpPr txBox="1"/>
          <p:nvPr/>
        </p:nvSpPr>
        <p:spPr>
          <a:xfrm>
            <a:off x="645327" y="1801368"/>
            <a:ext cx="10537785" cy="369332"/>
          </a:xfrm>
          <a:prstGeom prst="rect">
            <a:avLst/>
          </a:prstGeom>
          <a:noFill/>
        </p:spPr>
        <p:txBody>
          <a:bodyPr wrap="square" rtlCol="0">
            <a:spAutoFit/>
          </a:bodyPr>
          <a:lstStyle/>
          <a:p>
            <a:r>
              <a:rPr lang="en-GB" dirty="0"/>
              <a:t>These tables show the first 10 rows of the data categorised into Fiction and Non-Fiction </a:t>
            </a:r>
            <a:endParaRPr lang="en-MY" dirty="0"/>
          </a:p>
        </p:txBody>
      </p:sp>
      <p:sp>
        <p:nvSpPr>
          <p:cNvPr id="17" name="TextBox 16">
            <a:extLst>
              <a:ext uri="{FF2B5EF4-FFF2-40B4-BE49-F238E27FC236}">
                <a16:creationId xmlns:a16="http://schemas.microsoft.com/office/drawing/2014/main" id="{C3995DAD-5907-6526-DC18-BC87F42A253E}"/>
              </a:ext>
            </a:extLst>
          </p:cNvPr>
          <p:cNvSpPr txBox="1"/>
          <p:nvPr/>
        </p:nvSpPr>
        <p:spPr>
          <a:xfrm>
            <a:off x="645327" y="5239512"/>
            <a:ext cx="10646547" cy="646331"/>
          </a:xfrm>
          <a:prstGeom prst="rect">
            <a:avLst/>
          </a:prstGeom>
          <a:noFill/>
        </p:spPr>
        <p:txBody>
          <a:bodyPr wrap="square" rtlCol="0">
            <a:spAutoFit/>
          </a:bodyPr>
          <a:lstStyle/>
          <a:p>
            <a:r>
              <a:rPr lang="en-GB" dirty="0"/>
              <a:t>As shown on the smaller table below, we can see that overall, in the top 50s through the different years, there has been more non-fiction books than there has been fiction books that has placed within the top 50.</a:t>
            </a:r>
            <a:endParaRPr lang="en-MY" dirty="0"/>
          </a:p>
        </p:txBody>
      </p:sp>
      <p:sp>
        <p:nvSpPr>
          <p:cNvPr id="18" name="TextBox 17">
            <a:extLst>
              <a:ext uri="{FF2B5EF4-FFF2-40B4-BE49-F238E27FC236}">
                <a16:creationId xmlns:a16="http://schemas.microsoft.com/office/drawing/2014/main" id="{2209C9D9-9CF4-EE37-348C-1E16B7446EBB}"/>
              </a:ext>
            </a:extLst>
          </p:cNvPr>
          <p:cNvSpPr txBox="1"/>
          <p:nvPr/>
        </p:nvSpPr>
        <p:spPr>
          <a:xfrm>
            <a:off x="645327" y="4451095"/>
            <a:ext cx="2471927" cy="261610"/>
          </a:xfrm>
          <a:prstGeom prst="rect">
            <a:avLst/>
          </a:prstGeom>
          <a:noFill/>
        </p:spPr>
        <p:txBody>
          <a:bodyPr wrap="square" rtlCol="0">
            <a:spAutoFit/>
          </a:bodyPr>
          <a:lstStyle/>
          <a:p>
            <a:r>
              <a:rPr lang="en-GB" sz="1100" dirty="0"/>
              <a:t>Total number of books that are fiction</a:t>
            </a:r>
            <a:endParaRPr lang="en-MY" sz="1100" dirty="0"/>
          </a:p>
        </p:txBody>
      </p:sp>
      <p:sp>
        <p:nvSpPr>
          <p:cNvPr id="19" name="TextBox 18">
            <a:extLst>
              <a:ext uri="{FF2B5EF4-FFF2-40B4-BE49-F238E27FC236}">
                <a16:creationId xmlns:a16="http://schemas.microsoft.com/office/drawing/2014/main" id="{228C334F-954F-3918-06DB-8C63AD3BCE2E}"/>
              </a:ext>
            </a:extLst>
          </p:cNvPr>
          <p:cNvSpPr txBox="1"/>
          <p:nvPr/>
        </p:nvSpPr>
        <p:spPr>
          <a:xfrm>
            <a:off x="6090676" y="4518057"/>
            <a:ext cx="2761052" cy="261610"/>
          </a:xfrm>
          <a:prstGeom prst="rect">
            <a:avLst/>
          </a:prstGeom>
          <a:noFill/>
        </p:spPr>
        <p:txBody>
          <a:bodyPr wrap="square" rtlCol="0">
            <a:spAutoFit/>
          </a:bodyPr>
          <a:lstStyle/>
          <a:p>
            <a:r>
              <a:rPr lang="en-GB" sz="1100" dirty="0"/>
              <a:t>Total number of books that are non-fiction</a:t>
            </a:r>
            <a:endParaRPr lang="en-MY" sz="1100" dirty="0"/>
          </a:p>
        </p:txBody>
      </p:sp>
    </p:spTree>
    <p:extLst>
      <p:ext uri="{BB962C8B-B14F-4D97-AF65-F5344CB8AC3E}">
        <p14:creationId xmlns:p14="http://schemas.microsoft.com/office/powerpoint/2010/main" val="1982137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14E8C-FC6B-6A43-A3EE-44491CC6DF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FFE4B-A8E1-A2B1-A26D-26A4799316E9}"/>
              </a:ext>
            </a:extLst>
          </p:cNvPr>
          <p:cNvSpPr>
            <a:spLocks noGrp="1"/>
          </p:cNvSpPr>
          <p:nvPr>
            <p:ph type="title"/>
          </p:nvPr>
        </p:nvSpPr>
        <p:spPr/>
        <p:txBody>
          <a:bodyPr/>
          <a:lstStyle/>
          <a:p>
            <a:r>
              <a:rPr lang="en-GB" sz="5400" dirty="0"/>
              <a:t>Summaries: Top 50 Best Sellers</a:t>
            </a:r>
            <a:endParaRPr lang="en-MY" dirty="0"/>
          </a:p>
        </p:txBody>
      </p:sp>
      <p:sp>
        <p:nvSpPr>
          <p:cNvPr id="16" name="TextBox 15">
            <a:extLst>
              <a:ext uri="{FF2B5EF4-FFF2-40B4-BE49-F238E27FC236}">
                <a16:creationId xmlns:a16="http://schemas.microsoft.com/office/drawing/2014/main" id="{21CDADBB-542B-ADB8-AC6A-7EA7F7182F2C}"/>
              </a:ext>
            </a:extLst>
          </p:cNvPr>
          <p:cNvSpPr txBox="1"/>
          <p:nvPr/>
        </p:nvSpPr>
        <p:spPr>
          <a:xfrm>
            <a:off x="645327" y="1801368"/>
            <a:ext cx="10537785" cy="369332"/>
          </a:xfrm>
          <a:prstGeom prst="rect">
            <a:avLst/>
          </a:prstGeom>
          <a:noFill/>
        </p:spPr>
        <p:txBody>
          <a:bodyPr wrap="square" rtlCol="0">
            <a:spAutoFit/>
          </a:bodyPr>
          <a:lstStyle/>
          <a:p>
            <a:r>
              <a:rPr lang="en-GB" dirty="0"/>
              <a:t>Top 50 Best Sellers over 2009 - 2011</a:t>
            </a:r>
            <a:endParaRPr lang="en-MY" dirty="0"/>
          </a:p>
        </p:txBody>
      </p:sp>
      <p:sp>
        <p:nvSpPr>
          <p:cNvPr id="17" name="TextBox 16">
            <a:extLst>
              <a:ext uri="{FF2B5EF4-FFF2-40B4-BE49-F238E27FC236}">
                <a16:creationId xmlns:a16="http://schemas.microsoft.com/office/drawing/2014/main" id="{B4267049-CCD2-7BA5-57EF-03EA58BF1DB2}"/>
              </a:ext>
            </a:extLst>
          </p:cNvPr>
          <p:cNvSpPr txBox="1"/>
          <p:nvPr/>
        </p:nvSpPr>
        <p:spPr>
          <a:xfrm>
            <a:off x="645327" y="4797552"/>
            <a:ext cx="10646547" cy="1200329"/>
          </a:xfrm>
          <a:prstGeom prst="rect">
            <a:avLst/>
          </a:prstGeom>
          <a:noFill/>
        </p:spPr>
        <p:txBody>
          <a:bodyPr wrap="square" rtlCol="0">
            <a:spAutoFit/>
          </a:bodyPr>
          <a:lstStyle/>
          <a:p>
            <a:r>
              <a:rPr lang="en-GB" dirty="0"/>
              <a:t>From looking at the data we can see that the best sellers from 2009 is completely different based on the number of reviews compared to 2010 and 2011, where we can see some books have stayed as top best sellers. For Example, the Top 4 in 2010 and 2011 are the same. Furthermore, we can see a rise in the number of reviews overall.</a:t>
            </a:r>
            <a:endParaRPr lang="en-MY" dirty="0"/>
          </a:p>
        </p:txBody>
      </p:sp>
      <p:sp>
        <p:nvSpPr>
          <p:cNvPr id="18" name="TextBox 17">
            <a:extLst>
              <a:ext uri="{FF2B5EF4-FFF2-40B4-BE49-F238E27FC236}">
                <a16:creationId xmlns:a16="http://schemas.microsoft.com/office/drawing/2014/main" id="{BA515225-E8FB-CBC6-939F-9D6CFBFB2F80}"/>
              </a:ext>
            </a:extLst>
          </p:cNvPr>
          <p:cNvSpPr txBox="1"/>
          <p:nvPr/>
        </p:nvSpPr>
        <p:spPr>
          <a:xfrm>
            <a:off x="645327" y="4047099"/>
            <a:ext cx="10537783" cy="430887"/>
          </a:xfrm>
          <a:prstGeom prst="rect">
            <a:avLst/>
          </a:prstGeom>
          <a:noFill/>
        </p:spPr>
        <p:txBody>
          <a:bodyPr wrap="square" rtlCol="0">
            <a:spAutoFit/>
          </a:bodyPr>
          <a:lstStyle/>
          <a:p>
            <a:r>
              <a:rPr lang="en-GB" sz="1100" dirty="0"/>
              <a:t>These tables show the first 15 rows of the data for the top 50 displaying ‘Title of Book, Author, Year and Reviews’ as columns. The Year is the primary column that is ascending in order and the number of Reviews is the secondary columns that is organised in descending order</a:t>
            </a:r>
            <a:endParaRPr lang="en-MY" sz="1100" dirty="0"/>
          </a:p>
        </p:txBody>
      </p:sp>
      <p:pic>
        <p:nvPicPr>
          <p:cNvPr id="4" name="Picture 3">
            <a:extLst>
              <a:ext uri="{FF2B5EF4-FFF2-40B4-BE49-F238E27FC236}">
                <a16:creationId xmlns:a16="http://schemas.microsoft.com/office/drawing/2014/main" id="{F28A0895-0F32-70AA-6251-C28281EDC3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327" y="2168109"/>
            <a:ext cx="3419347" cy="1773859"/>
          </a:xfrm>
          <a:prstGeom prst="rect">
            <a:avLst/>
          </a:prstGeom>
        </p:spPr>
      </p:pic>
      <p:pic>
        <p:nvPicPr>
          <p:cNvPr id="10" name="Picture 9">
            <a:extLst>
              <a:ext uri="{FF2B5EF4-FFF2-40B4-BE49-F238E27FC236}">
                <a16:creationId xmlns:a16="http://schemas.microsoft.com/office/drawing/2014/main" id="{781887C5-8DC7-6C95-2688-8411A9605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4545" y="2171659"/>
            <a:ext cx="3419347" cy="1779694"/>
          </a:xfrm>
          <a:prstGeom prst="rect">
            <a:avLst/>
          </a:prstGeom>
        </p:spPr>
      </p:pic>
      <p:pic>
        <p:nvPicPr>
          <p:cNvPr id="12" name="Picture 11">
            <a:extLst>
              <a:ext uri="{FF2B5EF4-FFF2-40B4-BE49-F238E27FC236}">
                <a16:creationId xmlns:a16="http://schemas.microsoft.com/office/drawing/2014/main" id="{2647CDCE-3485-1FDD-FAF8-FE622E488D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3763" y="2170700"/>
            <a:ext cx="3419347" cy="1785789"/>
          </a:xfrm>
          <a:prstGeom prst="rect">
            <a:avLst/>
          </a:prstGeom>
        </p:spPr>
      </p:pic>
    </p:spTree>
    <p:extLst>
      <p:ext uri="{BB962C8B-B14F-4D97-AF65-F5344CB8AC3E}">
        <p14:creationId xmlns:p14="http://schemas.microsoft.com/office/powerpoint/2010/main" val="4075870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E3EE1-F045-6ED8-6D57-CEACBCE907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DCAF6-D533-E927-9DC2-A178D0C37C41}"/>
              </a:ext>
            </a:extLst>
          </p:cNvPr>
          <p:cNvSpPr>
            <a:spLocks noGrp="1"/>
          </p:cNvSpPr>
          <p:nvPr>
            <p:ph type="title"/>
          </p:nvPr>
        </p:nvSpPr>
        <p:spPr/>
        <p:txBody>
          <a:bodyPr/>
          <a:lstStyle/>
          <a:p>
            <a:r>
              <a:rPr lang="en-GB" sz="5400" dirty="0"/>
              <a:t>Summaries: Top 50 Best Sellers</a:t>
            </a:r>
            <a:endParaRPr lang="en-MY" dirty="0"/>
          </a:p>
        </p:txBody>
      </p:sp>
      <p:sp>
        <p:nvSpPr>
          <p:cNvPr id="16" name="TextBox 15">
            <a:extLst>
              <a:ext uri="{FF2B5EF4-FFF2-40B4-BE49-F238E27FC236}">
                <a16:creationId xmlns:a16="http://schemas.microsoft.com/office/drawing/2014/main" id="{D7601D49-2DD0-3BDC-0FAC-3A6D36D4F378}"/>
              </a:ext>
            </a:extLst>
          </p:cNvPr>
          <p:cNvSpPr txBox="1"/>
          <p:nvPr/>
        </p:nvSpPr>
        <p:spPr>
          <a:xfrm>
            <a:off x="645327" y="1801368"/>
            <a:ext cx="10537785" cy="369332"/>
          </a:xfrm>
          <a:prstGeom prst="rect">
            <a:avLst/>
          </a:prstGeom>
          <a:noFill/>
        </p:spPr>
        <p:txBody>
          <a:bodyPr wrap="square" rtlCol="0">
            <a:spAutoFit/>
          </a:bodyPr>
          <a:lstStyle/>
          <a:p>
            <a:r>
              <a:rPr lang="en-GB" dirty="0"/>
              <a:t>Top 50 Best Sellers over 2012 - 2014</a:t>
            </a:r>
            <a:endParaRPr lang="en-MY" dirty="0"/>
          </a:p>
        </p:txBody>
      </p:sp>
      <p:sp>
        <p:nvSpPr>
          <p:cNvPr id="17" name="TextBox 16">
            <a:extLst>
              <a:ext uri="{FF2B5EF4-FFF2-40B4-BE49-F238E27FC236}">
                <a16:creationId xmlns:a16="http://schemas.microsoft.com/office/drawing/2014/main" id="{62DDAA83-E4AB-413B-390B-64AB6D0AA228}"/>
              </a:ext>
            </a:extLst>
          </p:cNvPr>
          <p:cNvSpPr txBox="1"/>
          <p:nvPr/>
        </p:nvSpPr>
        <p:spPr>
          <a:xfrm>
            <a:off x="645327" y="5239512"/>
            <a:ext cx="10646547" cy="646331"/>
          </a:xfrm>
          <a:prstGeom prst="rect">
            <a:avLst/>
          </a:prstGeom>
          <a:noFill/>
        </p:spPr>
        <p:txBody>
          <a:bodyPr wrap="square" rtlCol="0">
            <a:spAutoFit/>
          </a:bodyPr>
          <a:lstStyle/>
          <a:p>
            <a:r>
              <a:rPr lang="en-GB" dirty="0"/>
              <a:t>From 2012 -2014 we can see another surge in number of reviews and a few new books taking the top spot based on those numbers.</a:t>
            </a:r>
            <a:endParaRPr lang="en-MY" dirty="0"/>
          </a:p>
        </p:txBody>
      </p:sp>
      <p:sp>
        <p:nvSpPr>
          <p:cNvPr id="18" name="TextBox 17">
            <a:extLst>
              <a:ext uri="{FF2B5EF4-FFF2-40B4-BE49-F238E27FC236}">
                <a16:creationId xmlns:a16="http://schemas.microsoft.com/office/drawing/2014/main" id="{C1299458-6C90-4310-B14F-C2F2B3E2B649}"/>
              </a:ext>
            </a:extLst>
          </p:cNvPr>
          <p:cNvSpPr txBox="1"/>
          <p:nvPr/>
        </p:nvSpPr>
        <p:spPr>
          <a:xfrm>
            <a:off x="645327" y="4047099"/>
            <a:ext cx="10537783" cy="430887"/>
          </a:xfrm>
          <a:prstGeom prst="rect">
            <a:avLst/>
          </a:prstGeom>
          <a:noFill/>
        </p:spPr>
        <p:txBody>
          <a:bodyPr wrap="square" rtlCol="0">
            <a:spAutoFit/>
          </a:bodyPr>
          <a:lstStyle/>
          <a:p>
            <a:r>
              <a:rPr lang="en-GB" sz="1100" dirty="0"/>
              <a:t>These tables show the first 15 rows of the data for the top 50 displaying ‘Title of Book, Author, Year and Reviews’ as columns. The Year is the primary column that is ascending in order and the number of Reviews is the secondary columns that is organised in descending order</a:t>
            </a:r>
            <a:endParaRPr lang="en-MY" sz="1100" dirty="0"/>
          </a:p>
        </p:txBody>
      </p:sp>
      <p:pic>
        <p:nvPicPr>
          <p:cNvPr id="4" name="Picture 3">
            <a:extLst>
              <a:ext uri="{FF2B5EF4-FFF2-40B4-BE49-F238E27FC236}">
                <a16:creationId xmlns:a16="http://schemas.microsoft.com/office/drawing/2014/main" id="{40321927-031E-66C7-D197-C09DC16761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327" y="2168109"/>
            <a:ext cx="3419347" cy="1773859"/>
          </a:xfrm>
          <a:prstGeom prst="rect">
            <a:avLst/>
          </a:prstGeom>
        </p:spPr>
      </p:pic>
      <p:pic>
        <p:nvPicPr>
          <p:cNvPr id="10" name="Picture 9">
            <a:extLst>
              <a:ext uri="{FF2B5EF4-FFF2-40B4-BE49-F238E27FC236}">
                <a16:creationId xmlns:a16="http://schemas.microsoft.com/office/drawing/2014/main" id="{F0A9CA42-5724-2307-198E-E7417BC527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4545" y="2171659"/>
            <a:ext cx="3419347" cy="1779694"/>
          </a:xfrm>
          <a:prstGeom prst="rect">
            <a:avLst/>
          </a:prstGeom>
        </p:spPr>
      </p:pic>
      <p:pic>
        <p:nvPicPr>
          <p:cNvPr id="12" name="Picture 11">
            <a:extLst>
              <a:ext uri="{FF2B5EF4-FFF2-40B4-BE49-F238E27FC236}">
                <a16:creationId xmlns:a16="http://schemas.microsoft.com/office/drawing/2014/main" id="{BA891BE3-34E3-E3D4-AB24-7CBA281CCB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3763" y="2170700"/>
            <a:ext cx="3419347" cy="1785789"/>
          </a:xfrm>
          <a:prstGeom prst="rect">
            <a:avLst/>
          </a:prstGeom>
        </p:spPr>
      </p:pic>
      <p:pic>
        <p:nvPicPr>
          <p:cNvPr id="5" name="Picture 4">
            <a:extLst>
              <a:ext uri="{FF2B5EF4-FFF2-40B4-BE49-F238E27FC236}">
                <a16:creationId xmlns:a16="http://schemas.microsoft.com/office/drawing/2014/main" id="{F338ED32-142B-0EBD-3CAB-D1E6E84222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325" y="2171659"/>
            <a:ext cx="3419347" cy="1782736"/>
          </a:xfrm>
          <a:prstGeom prst="rect">
            <a:avLst/>
          </a:prstGeom>
        </p:spPr>
      </p:pic>
      <p:pic>
        <p:nvPicPr>
          <p:cNvPr id="7" name="Picture 6">
            <a:extLst>
              <a:ext uri="{FF2B5EF4-FFF2-40B4-BE49-F238E27FC236}">
                <a16:creationId xmlns:a16="http://schemas.microsoft.com/office/drawing/2014/main" id="{352AEEA5-410F-59AC-7D47-1EDB831C746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04543" y="2167080"/>
            <a:ext cx="3419347" cy="1788852"/>
          </a:xfrm>
          <a:prstGeom prst="rect">
            <a:avLst/>
          </a:prstGeom>
        </p:spPr>
      </p:pic>
      <p:pic>
        <p:nvPicPr>
          <p:cNvPr id="9" name="Picture 8">
            <a:extLst>
              <a:ext uri="{FF2B5EF4-FFF2-40B4-BE49-F238E27FC236}">
                <a16:creationId xmlns:a16="http://schemas.microsoft.com/office/drawing/2014/main" id="{8970D4B2-FBFE-9785-95E1-6D795247D1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63762" y="2162771"/>
            <a:ext cx="3419348" cy="1788582"/>
          </a:xfrm>
          <a:prstGeom prst="rect">
            <a:avLst/>
          </a:prstGeom>
        </p:spPr>
      </p:pic>
    </p:spTree>
    <p:extLst>
      <p:ext uri="{BB962C8B-B14F-4D97-AF65-F5344CB8AC3E}">
        <p14:creationId xmlns:p14="http://schemas.microsoft.com/office/powerpoint/2010/main" val="337362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479EF-B0CE-0C02-E252-5B0C37A5A8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A3BD0-7AF6-F0A0-CE8B-EC6064187F5B}"/>
              </a:ext>
            </a:extLst>
          </p:cNvPr>
          <p:cNvSpPr>
            <a:spLocks noGrp="1"/>
          </p:cNvSpPr>
          <p:nvPr>
            <p:ph type="title"/>
          </p:nvPr>
        </p:nvSpPr>
        <p:spPr/>
        <p:txBody>
          <a:bodyPr/>
          <a:lstStyle/>
          <a:p>
            <a:r>
              <a:rPr lang="en-GB" sz="5400" dirty="0"/>
              <a:t>Summaries: Top 50 Best Sellers</a:t>
            </a:r>
            <a:endParaRPr lang="en-MY" dirty="0"/>
          </a:p>
        </p:txBody>
      </p:sp>
      <p:sp>
        <p:nvSpPr>
          <p:cNvPr id="16" name="TextBox 15">
            <a:extLst>
              <a:ext uri="{FF2B5EF4-FFF2-40B4-BE49-F238E27FC236}">
                <a16:creationId xmlns:a16="http://schemas.microsoft.com/office/drawing/2014/main" id="{0544EAFE-ABB2-DDE9-8213-F4A492F37BB6}"/>
              </a:ext>
            </a:extLst>
          </p:cNvPr>
          <p:cNvSpPr txBox="1"/>
          <p:nvPr/>
        </p:nvSpPr>
        <p:spPr>
          <a:xfrm>
            <a:off x="645327" y="1801368"/>
            <a:ext cx="10537785" cy="369332"/>
          </a:xfrm>
          <a:prstGeom prst="rect">
            <a:avLst/>
          </a:prstGeom>
          <a:noFill/>
        </p:spPr>
        <p:txBody>
          <a:bodyPr wrap="square" rtlCol="0">
            <a:spAutoFit/>
          </a:bodyPr>
          <a:lstStyle/>
          <a:p>
            <a:r>
              <a:rPr lang="en-GB" dirty="0"/>
              <a:t>Top 50 Best Sellers over 2015 - 2017</a:t>
            </a:r>
            <a:endParaRPr lang="en-MY" dirty="0"/>
          </a:p>
        </p:txBody>
      </p:sp>
      <p:sp>
        <p:nvSpPr>
          <p:cNvPr id="17" name="TextBox 16">
            <a:extLst>
              <a:ext uri="{FF2B5EF4-FFF2-40B4-BE49-F238E27FC236}">
                <a16:creationId xmlns:a16="http://schemas.microsoft.com/office/drawing/2014/main" id="{D3755A4A-BBFF-5C07-6AC8-0167C27BAF60}"/>
              </a:ext>
            </a:extLst>
          </p:cNvPr>
          <p:cNvSpPr txBox="1"/>
          <p:nvPr/>
        </p:nvSpPr>
        <p:spPr>
          <a:xfrm>
            <a:off x="645327" y="5239512"/>
            <a:ext cx="10646547" cy="369332"/>
          </a:xfrm>
          <a:prstGeom prst="rect">
            <a:avLst/>
          </a:prstGeom>
          <a:noFill/>
        </p:spPr>
        <p:txBody>
          <a:bodyPr wrap="square" rtlCol="0">
            <a:spAutoFit/>
          </a:bodyPr>
          <a:lstStyle/>
          <a:p>
            <a:r>
              <a:rPr lang="en-GB" dirty="0"/>
              <a:t>We can continue to see the trend of increased reviews from 2015-2016 but a sharp decline from 2017</a:t>
            </a:r>
            <a:endParaRPr lang="en-MY" dirty="0"/>
          </a:p>
        </p:txBody>
      </p:sp>
      <p:sp>
        <p:nvSpPr>
          <p:cNvPr id="18" name="TextBox 17">
            <a:extLst>
              <a:ext uri="{FF2B5EF4-FFF2-40B4-BE49-F238E27FC236}">
                <a16:creationId xmlns:a16="http://schemas.microsoft.com/office/drawing/2014/main" id="{6D09677F-203C-79CD-FC73-9CCDF49D7C50}"/>
              </a:ext>
            </a:extLst>
          </p:cNvPr>
          <p:cNvSpPr txBox="1"/>
          <p:nvPr/>
        </p:nvSpPr>
        <p:spPr>
          <a:xfrm>
            <a:off x="645327" y="4047099"/>
            <a:ext cx="10537783" cy="430887"/>
          </a:xfrm>
          <a:prstGeom prst="rect">
            <a:avLst/>
          </a:prstGeom>
          <a:noFill/>
        </p:spPr>
        <p:txBody>
          <a:bodyPr wrap="square" rtlCol="0">
            <a:spAutoFit/>
          </a:bodyPr>
          <a:lstStyle/>
          <a:p>
            <a:r>
              <a:rPr lang="en-GB" sz="1100" dirty="0"/>
              <a:t>These tables show the first 15 rows of the data for the top 50 displaying ‘Title of Book, Author, Year and Reviews’ as columns. The Year is the primary column that is ascending in order and the number of Reviews is the secondary columns that is organised in descending order </a:t>
            </a:r>
            <a:endParaRPr lang="en-MY" sz="1100" dirty="0"/>
          </a:p>
        </p:txBody>
      </p:sp>
      <p:sp>
        <p:nvSpPr>
          <p:cNvPr id="19" name="TextBox 18">
            <a:extLst>
              <a:ext uri="{FF2B5EF4-FFF2-40B4-BE49-F238E27FC236}">
                <a16:creationId xmlns:a16="http://schemas.microsoft.com/office/drawing/2014/main" id="{B50118B4-D06F-3382-80AB-D3C10F163E95}"/>
              </a:ext>
            </a:extLst>
          </p:cNvPr>
          <p:cNvSpPr txBox="1"/>
          <p:nvPr/>
        </p:nvSpPr>
        <p:spPr>
          <a:xfrm>
            <a:off x="6090676" y="4518057"/>
            <a:ext cx="2761052" cy="261610"/>
          </a:xfrm>
          <a:prstGeom prst="rect">
            <a:avLst/>
          </a:prstGeom>
          <a:noFill/>
        </p:spPr>
        <p:txBody>
          <a:bodyPr wrap="square" rtlCol="0">
            <a:spAutoFit/>
          </a:bodyPr>
          <a:lstStyle/>
          <a:p>
            <a:r>
              <a:rPr lang="en-GB" sz="1100" dirty="0"/>
              <a:t>Total number of books that are non-fiction</a:t>
            </a:r>
            <a:endParaRPr lang="en-MY" sz="1100" dirty="0"/>
          </a:p>
        </p:txBody>
      </p:sp>
      <p:pic>
        <p:nvPicPr>
          <p:cNvPr id="4" name="Picture 3">
            <a:extLst>
              <a:ext uri="{FF2B5EF4-FFF2-40B4-BE49-F238E27FC236}">
                <a16:creationId xmlns:a16="http://schemas.microsoft.com/office/drawing/2014/main" id="{CC1EB28D-4512-0BB7-1D02-40F9BD0FF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327" y="2168109"/>
            <a:ext cx="3419347" cy="1773859"/>
          </a:xfrm>
          <a:prstGeom prst="rect">
            <a:avLst/>
          </a:prstGeom>
        </p:spPr>
      </p:pic>
      <p:pic>
        <p:nvPicPr>
          <p:cNvPr id="10" name="Picture 9">
            <a:extLst>
              <a:ext uri="{FF2B5EF4-FFF2-40B4-BE49-F238E27FC236}">
                <a16:creationId xmlns:a16="http://schemas.microsoft.com/office/drawing/2014/main" id="{812B9D3D-E09D-FBC7-B201-3E6EC36F28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4545" y="2171659"/>
            <a:ext cx="3419347" cy="1779694"/>
          </a:xfrm>
          <a:prstGeom prst="rect">
            <a:avLst/>
          </a:prstGeom>
        </p:spPr>
      </p:pic>
      <p:pic>
        <p:nvPicPr>
          <p:cNvPr id="12" name="Picture 11">
            <a:extLst>
              <a:ext uri="{FF2B5EF4-FFF2-40B4-BE49-F238E27FC236}">
                <a16:creationId xmlns:a16="http://schemas.microsoft.com/office/drawing/2014/main" id="{592C0262-56C6-C318-DCE2-4FA9BCC962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3763" y="2170700"/>
            <a:ext cx="3419347" cy="1785789"/>
          </a:xfrm>
          <a:prstGeom prst="rect">
            <a:avLst/>
          </a:prstGeom>
        </p:spPr>
      </p:pic>
      <p:pic>
        <p:nvPicPr>
          <p:cNvPr id="5" name="Picture 4">
            <a:extLst>
              <a:ext uri="{FF2B5EF4-FFF2-40B4-BE49-F238E27FC236}">
                <a16:creationId xmlns:a16="http://schemas.microsoft.com/office/drawing/2014/main" id="{1B358856-87E5-D73F-DD4C-74A0055A82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325" y="2171659"/>
            <a:ext cx="3419347" cy="1782736"/>
          </a:xfrm>
          <a:prstGeom prst="rect">
            <a:avLst/>
          </a:prstGeom>
        </p:spPr>
      </p:pic>
      <p:pic>
        <p:nvPicPr>
          <p:cNvPr id="7" name="Picture 6">
            <a:extLst>
              <a:ext uri="{FF2B5EF4-FFF2-40B4-BE49-F238E27FC236}">
                <a16:creationId xmlns:a16="http://schemas.microsoft.com/office/drawing/2014/main" id="{69822F50-53F4-3F52-F9BC-189190B82C8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04543" y="2167080"/>
            <a:ext cx="3419347" cy="1788852"/>
          </a:xfrm>
          <a:prstGeom prst="rect">
            <a:avLst/>
          </a:prstGeom>
        </p:spPr>
      </p:pic>
      <p:pic>
        <p:nvPicPr>
          <p:cNvPr id="9" name="Picture 8">
            <a:extLst>
              <a:ext uri="{FF2B5EF4-FFF2-40B4-BE49-F238E27FC236}">
                <a16:creationId xmlns:a16="http://schemas.microsoft.com/office/drawing/2014/main" id="{081740ED-DAF6-352D-DAE9-F825D54CB6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63762" y="2162771"/>
            <a:ext cx="3419348" cy="1788582"/>
          </a:xfrm>
          <a:prstGeom prst="rect">
            <a:avLst/>
          </a:prstGeom>
        </p:spPr>
      </p:pic>
      <p:pic>
        <p:nvPicPr>
          <p:cNvPr id="6" name="Picture 5">
            <a:extLst>
              <a:ext uri="{FF2B5EF4-FFF2-40B4-BE49-F238E27FC236}">
                <a16:creationId xmlns:a16="http://schemas.microsoft.com/office/drawing/2014/main" id="{50460935-EFEF-D208-D648-22FB419D030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5324" y="2169363"/>
            <a:ext cx="3419347" cy="1788582"/>
          </a:xfrm>
          <a:prstGeom prst="rect">
            <a:avLst/>
          </a:prstGeom>
        </p:spPr>
      </p:pic>
      <p:pic>
        <p:nvPicPr>
          <p:cNvPr id="11" name="Picture 10">
            <a:extLst>
              <a:ext uri="{FF2B5EF4-FFF2-40B4-BE49-F238E27FC236}">
                <a16:creationId xmlns:a16="http://schemas.microsoft.com/office/drawing/2014/main" id="{93F6FD23-24E0-F0CF-BEB4-214255E397D2}"/>
              </a:ext>
            </a:extLst>
          </p:cNvPr>
          <p:cNvPicPr>
            <a:picLocks noChangeAspect="1"/>
          </p:cNvPicPr>
          <p:nvPr/>
        </p:nvPicPr>
        <p:blipFill>
          <a:blip r:embed="rId9">
            <a:extLst>
              <a:ext uri="{28A0092B-C50C-407E-A947-70E740481C1C}">
                <a14:useLocalDpi xmlns:a14="http://schemas.microsoft.com/office/drawing/2010/main" val="0"/>
              </a:ext>
            </a:extLst>
          </a:blip>
          <a:srcRect t="990"/>
          <a:stretch/>
        </p:blipFill>
        <p:spPr>
          <a:xfrm>
            <a:off x="4204542" y="2169363"/>
            <a:ext cx="3419347" cy="1779694"/>
          </a:xfrm>
          <a:prstGeom prst="rect">
            <a:avLst/>
          </a:prstGeom>
        </p:spPr>
      </p:pic>
      <p:pic>
        <p:nvPicPr>
          <p:cNvPr id="20" name="Picture 19">
            <a:extLst>
              <a:ext uri="{FF2B5EF4-FFF2-40B4-BE49-F238E27FC236}">
                <a16:creationId xmlns:a16="http://schemas.microsoft.com/office/drawing/2014/main" id="{B542D7CA-6D10-7236-B4AA-C02E9AC8923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763762" y="2175041"/>
            <a:ext cx="3419348" cy="1782488"/>
          </a:xfrm>
          <a:prstGeom prst="rect">
            <a:avLst/>
          </a:prstGeom>
        </p:spPr>
      </p:pic>
    </p:spTree>
    <p:extLst>
      <p:ext uri="{BB962C8B-B14F-4D97-AF65-F5344CB8AC3E}">
        <p14:creationId xmlns:p14="http://schemas.microsoft.com/office/powerpoint/2010/main" val="3783401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5F94-5532-0B91-41CB-AC0D478A3A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C6E27-2CF2-82F0-D24C-BE2B47628B7F}"/>
              </a:ext>
            </a:extLst>
          </p:cNvPr>
          <p:cNvSpPr>
            <a:spLocks noGrp="1"/>
          </p:cNvSpPr>
          <p:nvPr>
            <p:ph type="title"/>
          </p:nvPr>
        </p:nvSpPr>
        <p:spPr/>
        <p:txBody>
          <a:bodyPr/>
          <a:lstStyle/>
          <a:p>
            <a:r>
              <a:rPr lang="en-GB" sz="5400" dirty="0"/>
              <a:t>Summaries: Top 50 Best Sellers</a:t>
            </a:r>
            <a:endParaRPr lang="en-MY" dirty="0"/>
          </a:p>
        </p:txBody>
      </p:sp>
      <p:sp>
        <p:nvSpPr>
          <p:cNvPr id="16" name="TextBox 15">
            <a:extLst>
              <a:ext uri="{FF2B5EF4-FFF2-40B4-BE49-F238E27FC236}">
                <a16:creationId xmlns:a16="http://schemas.microsoft.com/office/drawing/2014/main" id="{1C85D6AC-2CC5-49A9-1467-CD114DB19B71}"/>
              </a:ext>
            </a:extLst>
          </p:cNvPr>
          <p:cNvSpPr txBox="1"/>
          <p:nvPr/>
        </p:nvSpPr>
        <p:spPr>
          <a:xfrm>
            <a:off x="645327" y="1664175"/>
            <a:ext cx="10537785" cy="369332"/>
          </a:xfrm>
          <a:prstGeom prst="rect">
            <a:avLst/>
          </a:prstGeom>
          <a:noFill/>
        </p:spPr>
        <p:txBody>
          <a:bodyPr wrap="square" rtlCol="0">
            <a:spAutoFit/>
          </a:bodyPr>
          <a:lstStyle/>
          <a:p>
            <a:r>
              <a:rPr lang="en-GB" dirty="0"/>
              <a:t>Top 50 Best Sellers over 2018 - 2019</a:t>
            </a:r>
            <a:endParaRPr lang="en-MY" dirty="0"/>
          </a:p>
        </p:txBody>
      </p:sp>
      <p:sp>
        <p:nvSpPr>
          <p:cNvPr id="17" name="TextBox 16">
            <a:extLst>
              <a:ext uri="{FF2B5EF4-FFF2-40B4-BE49-F238E27FC236}">
                <a16:creationId xmlns:a16="http://schemas.microsoft.com/office/drawing/2014/main" id="{1ED7756D-37FE-245D-28A2-39288B6FB813}"/>
              </a:ext>
            </a:extLst>
          </p:cNvPr>
          <p:cNvSpPr txBox="1"/>
          <p:nvPr/>
        </p:nvSpPr>
        <p:spPr>
          <a:xfrm>
            <a:off x="645327" y="5513832"/>
            <a:ext cx="10646547" cy="646331"/>
          </a:xfrm>
          <a:prstGeom prst="rect">
            <a:avLst/>
          </a:prstGeom>
          <a:noFill/>
        </p:spPr>
        <p:txBody>
          <a:bodyPr wrap="square" rtlCol="0">
            <a:spAutoFit/>
          </a:bodyPr>
          <a:lstStyle/>
          <a:p>
            <a:r>
              <a:rPr lang="en-GB" dirty="0"/>
              <a:t>From 2018- 2019 we continue the trend of increased number of reviews with 2019 having the highest number of reviews in the dataset for a single book ‘Where the Crawdads Sing’ with 87841 reviews. In 2019</a:t>
            </a:r>
            <a:endParaRPr lang="en-MY" dirty="0"/>
          </a:p>
        </p:txBody>
      </p:sp>
      <p:sp>
        <p:nvSpPr>
          <p:cNvPr id="18" name="TextBox 17">
            <a:extLst>
              <a:ext uri="{FF2B5EF4-FFF2-40B4-BE49-F238E27FC236}">
                <a16:creationId xmlns:a16="http://schemas.microsoft.com/office/drawing/2014/main" id="{67C8829F-65D4-55F2-CCD4-82785E3D8D2F}"/>
              </a:ext>
            </a:extLst>
          </p:cNvPr>
          <p:cNvSpPr txBox="1"/>
          <p:nvPr/>
        </p:nvSpPr>
        <p:spPr>
          <a:xfrm>
            <a:off x="645329" y="4824494"/>
            <a:ext cx="10537783" cy="430887"/>
          </a:xfrm>
          <a:prstGeom prst="rect">
            <a:avLst/>
          </a:prstGeom>
          <a:noFill/>
        </p:spPr>
        <p:txBody>
          <a:bodyPr wrap="square" rtlCol="0">
            <a:spAutoFit/>
          </a:bodyPr>
          <a:lstStyle/>
          <a:p>
            <a:r>
              <a:rPr lang="en-GB" sz="1100" dirty="0"/>
              <a:t>These tables show the first 15 rows of the data for the top 50 displaying ‘Title of Book, Author, Year and Reviews’ as columns. The Year is the primary column that is ascending in order and the number of Reviews is the secondary columns that is organised in descending order </a:t>
            </a:r>
            <a:endParaRPr lang="en-MY" sz="1100" dirty="0"/>
          </a:p>
        </p:txBody>
      </p:sp>
      <p:pic>
        <p:nvPicPr>
          <p:cNvPr id="8" name="Picture 7">
            <a:extLst>
              <a:ext uri="{FF2B5EF4-FFF2-40B4-BE49-F238E27FC236}">
                <a16:creationId xmlns:a16="http://schemas.microsoft.com/office/drawing/2014/main" id="{09B5DAA1-4A97-8B20-46B8-3112C416D17C}"/>
              </a:ext>
            </a:extLst>
          </p:cNvPr>
          <p:cNvPicPr>
            <a:picLocks noChangeAspect="1"/>
          </p:cNvPicPr>
          <p:nvPr/>
        </p:nvPicPr>
        <p:blipFill>
          <a:blip r:embed="rId3">
            <a:extLst>
              <a:ext uri="{28A0092B-C50C-407E-A947-70E740481C1C}">
                <a14:useLocalDpi xmlns:a14="http://schemas.microsoft.com/office/drawing/2010/main" val="0"/>
              </a:ext>
            </a:extLst>
          </a:blip>
          <a:srcRect t="494"/>
          <a:stretch/>
        </p:blipFill>
        <p:spPr>
          <a:xfrm>
            <a:off x="701257" y="2117632"/>
            <a:ext cx="5014047" cy="2605325"/>
          </a:xfrm>
          <a:prstGeom prst="rect">
            <a:avLst/>
          </a:prstGeom>
        </p:spPr>
      </p:pic>
      <p:pic>
        <p:nvPicPr>
          <p:cNvPr id="14" name="Picture 13">
            <a:extLst>
              <a:ext uri="{FF2B5EF4-FFF2-40B4-BE49-F238E27FC236}">
                <a16:creationId xmlns:a16="http://schemas.microsoft.com/office/drawing/2014/main" id="{9C80DEC0-BCDB-6657-20C2-139827EC18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8600" y="2119872"/>
            <a:ext cx="5017791" cy="2603086"/>
          </a:xfrm>
          <a:prstGeom prst="rect">
            <a:avLst/>
          </a:prstGeom>
        </p:spPr>
      </p:pic>
    </p:spTree>
    <p:extLst>
      <p:ext uri="{BB962C8B-B14F-4D97-AF65-F5344CB8AC3E}">
        <p14:creationId xmlns:p14="http://schemas.microsoft.com/office/powerpoint/2010/main" val="3166911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0C5A2-1E24-3FF1-EC55-937E12228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A77FE-5784-C890-F765-46AC5BD970B1}"/>
              </a:ext>
            </a:extLst>
          </p:cNvPr>
          <p:cNvSpPr>
            <a:spLocks noGrp="1"/>
          </p:cNvSpPr>
          <p:nvPr>
            <p:ph type="title"/>
          </p:nvPr>
        </p:nvSpPr>
        <p:spPr/>
        <p:txBody>
          <a:bodyPr/>
          <a:lstStyle/>
          <a:p>
            <a:r>
              <a:rPr lang="en-GB" sz="5400" dirty="0"/>
              <a:t>Summaries: Top 50 Best Sellers</a:t>
            </a:r>
            <a:endParaRPr lang="en-MY" dirty="0"/>
          </a:p>
        </p:txBody>
      </p:sp>
      <p:sp>
        <p:nvSpPr>
          <p:cNvPr id="16" name="TextBox 15">
            <a:extLst>
              <a:ext uri="{FF2B5EF4-FFF2-40B4-BE49-F238E27FC236}">
                <a16:creationId xmlns:a16="http://schemas.microsoft.com/office/drawing/2014/main" id="{B7CF701E-8C37-6FA2-F1F0-0E63D4D5BC90}"/>
              </a:ext>
            </a:extLst>
          </p:cNvPr>
          <p:cNvSpPr txBox="1"/>
          <p:nvPr/>
        </p:nvSpPr>
        <p:spPr>
          <a:xfrm>
            <a:off x="645327" y="1949925"/>
            <a:ext cx="10622230" cy="2554545"/>
          </a:xfrm>
          <a:prstGeom prst="rect">
            <a:avLst/>
          </a:prstGeom>
          <a:noFill/>
        </p:spPr>
        <p:txBody>
          <a:bodyPr wrap="square" rtlCol="0">
            <a:spAutoFit/>
          </a:bodyPr>
          <a:lstStyle/>
          <a:p>
            <a:r>
              <a:rPr lang="en-GB" sz="1600" dirty="0"/>
              <a:t>From the previous tables that show the data of the Top 50 books each year, We can see a trend of increasing number of reviews. This indicates the relevancy of the title and likely external influence and interest. For example, the Hunger Game series first released in 2008 with a rise with the most reviews in 2010-2011 is likely dues to anticipation to the upcoming release of the movie adaptation in 2012</a:t>
            </a:r>
          </a:p>
          <a:p>
            <a:endParaRPr lang="en-GB" sz="1600" dirty="0"/>
          </a:p>
          <a:p>
            <a:r>
              <a:rPr lang="en-GB" sz="1600" dirty="0"/>
              <a:t>The changing titles within the top 50 is also likely due to the increase variety of audiences/readers as proven  by the trend in reviews.</a:t>
            </a:r>
          </a:p>
          <a:p>
            <a:endParaRPr lang="en-GB" sz="1600" dirty="0"/>
          </a:p>
          <a:p>
            <a:r>
              <a:rPr lang="en-GB" sz="1600" dirty="0"/>
              <a:t>Furthermore, titles that appear more than once in the top 50 e.g. 2014 number 2 and 3 ‘The Fault in Our Stars’ have different price points suggesting different versions or editions (probably paper cover or hard cover)</a:t>
            </a:r>
          </a:p>
        </p:txBody>
      </p:sp>
    </p:spTree>
    <p:extLst>
      <p:ext uri="{BB962C8B-B14F-4D97-AF65-F5344CB8AC3E}">
        <p14:creationId xmlns:p14="http://schemas.microsoft.com/office/powerpoint/2010/main" val="606722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7637B-3DCA-A7BC-CAB8-5B9512E310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F5937-14A2-DBD1-B560-BCDA20F597BA}"/>
              </a:ext>
            </a:extLst>
          </p:cNvPr>
          <p:cNvSpPr>
            <a:spLocks noGrp="1"/>
          </p:cNvSpPr>
          <p:nvPr>
            <p:ph type="title"/>
          </p:nvPr>
        </p:nvSpPr>
        <p:spPr/>
        <p:txBody>
          <a:bodyPr/>
          <a:lstStyle/>
          <a:p>
            <a:r>
              <a:rPr lang="en-GB" sz="5400" dirty="0"/>
              <a:t>Summaries: Rating</a:t>
            </a:r>
            <a:endParaRPr lang="en-MY" dirty="0"/>
          </a:p>
        </p:txBody>
      </p:sp>
      <p:sp>
        <p:nvSpPr>
          <p:cNvPr id="16" name="TextBox 15">
            <a:extLst>
              <a:ext uri="{FF2B5EF4-FFF2-40B4-BE49-F238E27FC236}">
                <a16:creationId xmlns:a16="http://schemas.microsoft.com/office/drawing/2014/main" id="{D8CF529D-EFAF-8168-BBBB-18E93A6FED90}"/>
              </a:ext>
            </a:extLst>
          </p:cNvPr>
          <p:cNvSpPr txBox="1"/>
          <p:nvPr/>
        </p:nvSpPr>
        <p:spPr>
          <a:xfrm>
            <a:off x="645327" y="1664175"/>
            <a:ext cx="10537785" cy="369332"/>
          </a:xfrm>
          <a:prstGeom prst="rect">
            <a:avLst/>
          </a:prstGeom>
          <a:noFill/>
        </p:spPr>
        <p:txBody>
          <a:bodyPr wrap="square" rtlCol="0">
            <a:spAutoFit/>
          </a:bodyPr>
          <a:lstStyle/>
          <a:p>
            <a:r>
              <a:rPr lang="en-GB" dirty="0"/>
              <a:t>This table shows the data based on rating greater than 4 in 2019</a:t>
            </a:r>
            <a:endParaRPr lang="en-MY" dirty="0"/>
          </a:p>
        </p:txBody>
      </p:sp>
      <p:sp>
        <p:nvSpPr>
          <p:cNvPr id="17" name="TextBox 16">
            <a:extLst>
              <a:ext uri="{FF2B5EF4-FFF2-40B4-BE49-F238E27FC236}">
                <a16:creationId xmlns:a16="http://schemas.microsoft.com/office/drawing/2014/main" id="{8738A41A-2128-2261-A04C-7A8ECFF02D0F}"/>
              </a:ext>
            </a:extLst>
          </p:cNvPr>
          <p:cNvSpPr txBox="1"/>
          <p:nvPr/>
        </p:nvSpPr>
        <p:spPr>
          <a:xfrm>
            <a:off x="645327" y="5513832"/>
            <a:ext cx="10646547" cy="646331"/>
          </a:xfrm>
          <a:prstGeom prst="rect">
            <a:avLst/>
          </a:prstGeom>
          <a:noFill/>
        </p:spPr>
        <p:txBody>
          <a:bodyPr wrap="square" rtlCol="0">
            <a:spAutoFit/>
          </a:bodyPr>
          <a:lstStyle/>
          <a:p>
            <a:r>
              <a:rPr lang="en-GB" dirty="0"/>
              <a:t>From what we can see in 2019 based on user rating, people tend to give a higher rating to fiction writing compared to non-fiction</a:t>
            </a:r>
            <a:endParaRPr lang="en-MY" dirty="0"/>
          </a:p>
        </p:txBody>
      </p:sp>
      <p:sp>
        <p:nvSpPr>
          <p:cNvPr id="18" name="TextBox 17">
            <a:extLst>
              <a:ext uri="{FF2B5EF4-FFF2-40B4-BE49-F238E27FC236}">
                <a16:creationId xmlns:a16="http://schemas.microsoft.com/office/drawing/2014/main" id="{E40FEB40-03AA-826B-8F31-CBFE0F03E429}"/>
              </a:ext>
            </a:extLst>
          </p:cNvPr>
          <p:cNvSpPr txBox="1"/>
          <p:nvPr/>
        </p:nvSpPr>
        <p:spPr>
          <a:xfrm>
            <a:off x="645329" y="4831124"/>
            <a:ext cx="10537783" cy="261610"/>
          </a:xfrm>
          <a:prstGeom prst="rect">
            <a:avLst/>
          </a:prstGeom>
          <a:noFill/>
        </p:spPr>
        <p:txBody>
          <a:bodyPr wrap="square" rtlCol="0">
            <a:spAutoFit/>
          </a:bodyPr>
          <a:lstStyle/>
          <a:p>
            <a:r>
              <a:rPr lang="en-GB" sz="1100" dirty="0"/>
              <a:t> The table on the left is the Top 15 based on User Rating and the table on the right is the Bottom 15</a:t>
            </a:r>
            <a:endParaRPr lang="en-MY" sz="1100" dirty="0"/>
          </a:p>
        </p:txBody>
      </p:sp>
      <p:pic>
        <p:nvPicPr>
          <p:cNvPr id="6" name="Picture 5">
            <a:extLst>
              <a:ext uri="{FF2B5EF4-FFF2-40B4-BE49-F238E27FC236}">
                <a16:creationId xmlns:a16="http://schemas.microsoft.com/office/drawing/2014/main" id="{7161CB38-B29E-A12A-AF40-47B1BB20E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970" y="2232021"/>
            <a:ext cx="5682706" cy="2393957"/>
          </a:xfrm>
          <a:prstGeom prst="rect">
            <a:avLst/>
          </a:prstGeom>
        </p:spPr>
      </p:pic>
      <p:pic>
        <p:nvPicPr>
          <p:cNvPr id="9" name="Picture 8">
            <a:extLst>
              <a:ext uri="{FF2B5EF4-FFF2-40B4-BE49-F238E27FC236}">
                <a16:creationId xmlns:a16="http://schemas.microsoft.com/office/drawing/2014/main" id="{96F8F166-21BB-3403-703F-C5C1BB1474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6101" y="2232021"/>
            <a:ext cx="5682706" cy="2400589"/>
          </a:xfrm>
          <a:prstGeom prst="rect">
            <a:avLst/>
          </a:prstGeom>
        </p:spPr>
      </p:pic>
    </p:spTree>
    <p:extLst>
      <p:ext uri="{BB962C8B-B14F-4D97-AF65-F5344CB8AC3E}">
        <p14:creationId xmlns:p14="http://schemas.microsoft.com/office/powerpoint/2010/main" val="431912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40BA5-E015-CC25-F2CB-989B57971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41FB4-F65A-9C71-FA43-0A46B7B890B6}"/>
              </a:ext>
            </a:extLst>
          </p:cNvPr>
          <p:cNvSpPr>
            <a:spLocks noGrp="1"/>
          </p:cNvSpPr>
          <p:nvPr>
            <p:ph type="title"/>
          </p:nvPr>
        </p:nvSpPr>
        <p:spPr/>
        <p:txBody>
          <a:bodyPr/>
          <a:lstStyle/>
          <a:p>
            <a:r>
              <a:rPr lang="en-GB" sz="5400" dirty="0"/>
              <a:t>Own Summaries: Rating</a:t>
            </a:r>
            <a:endParaRPr lang="en-MY" dirty="0"/>
          </a:p>
        </p:txBody>
      </p:sp>
      <p:sp>
        <p:nvSpPr>
          <p:cNvPr id="16" name="TextBox 15">
            <a:extLst>
              <a:ext uri="{FF2B5EF4-FFF2-40B4-BE49-F238E27FC236}">
                <a16:creationId xmlns:a16="http://schemas.microsoft.com/office/drawing/2014/main" id="{4536F72F-FF85-6608-523D-4017B8CF5992}"/>
              </a:ext>
            </a:extLst>
          </p:cNvPr>
          <p:cNvSpPr txBox="1"/>
          <p:nvPr/>
        </p:nvSpPr>
        <p:spPr>
          <a:xfrm>
            <a:off x="645327" y="1664175"/>
            <a:ext cx="10537785" cy="369332"/>
          </a:xfrm>
          <a:prstGeom prst="rect">
            <a:avLst/>
          </a:prstGeom>
          <a:noFill/>
        </p:spPr>
        <p:txBody>
          <a:bodyPr wrap="square" rtlCol="0">
            <a:spAutoFit/>
          </a:bodyPr>
          <a:lstStyle/>
          <a:p>
            <a:r>
              <a:rPr lang="en-GB" dirty="0"/>
              <a:t>This data shows user rating below 4</a:t>
            </a:r>
            <a:endParaRPr lang="en-MY" dirty="0"/>
          </a:p>
        </p:txBody>
      </p:sp>
      <p:sp>
        <p:nvSpPr>
          <p:cNvPr id="17" name="TextBox 16">
            <a:extLst>
              <a:ext uri="{FF2B5EF4-FFF2-40B4-BE49-F238E27FC236}">
                <a16:creationId xmlns:a16="http://schemas.microsoft.com/office/drawing/2014/main" id="{1F1BD402-CCCA-86E4-7A51-2BA63CF42B71}"/>
              </a:ext>
            </a:extLst>
          </p:cNvPr>
          <p:cNvSpPr txBox="1"/>
          <p:nvPr/>
        </p:nvSpPr>
        <p:spPr>
          <a:xfrm>
            <a:off x="645327" y="5073065"/>
            <a:ext cx="10646547" cy="646331"/>
          </a:xfrm>
          <a:prstGeom prst="rect">
            <a:avLst/>
          </a:prstGeom>
          <a:noFill/>
        </p:spPr>
        <p:txBody>
          <a:bodyPr wrap="square" rtlCol="0">
            <a:spAutoFit/>
          </a:bodyPr>
          <a:lstStyle/>
          <a:p>
            <a:r>
              <a:rPr lang="en-GB" dirty="0"/>
              <a:t>From what we can see, the only genre with a user rating less than 4 is fiction. Furthermore, 2 of the books are the same but are within the top 50 for 2 different years.</a:t>
            </a:r>
            <a:endParaRPr lang="en-MY" dirty="0"/>
          </a:p>
        </p:txBody>
      </p:sp>
      <p:sp>
        <p:nvSpPr>
          <p:cNvPr id="18" name="TextBox 17">
            <a:extLst>
              <a:ext uri="{FF2B5EF4-FFF2-40B4-BE49-F238E27FC236}">
                <a16:creationId xmlns:a16="http://schemas.microsoft.com/office/drawing/2014/main" id="{FD73D95C-EA72-73A9-7406-0FB558CDFBE4}"/>
              </a:ext>
            </a:extLst>
          </p:cNvPr>
          <p:cNvSpPr txBox="1"/>
          <p:nvPr/>
        </p:nvSpPr>
        <p:spPr>
          <a:xfrm>
            <a:off x="532788" y="4377666"/>
            <a:ext cx="10537783" cy="261610"/>
          </a:xfrm>
          <a:prstGeom prst="rect">
            <a:avLst/>
          </a:prstGeom>
          <a:noFill/>
        </p:spPr>
        <p:txBody>
          <a:bodyPr wrap="square" rtlCol="0">
            <a:spAutoFit/>
          </a:bodyPr>
          <a:lstStyle/>
          <a:p>
            <a:r>
              <a:rPr lang="en-GB" sz="1100" dirty="0"/>
              <a:t>The table shows all the books that have a user rating of below 4</a:t>
            </a:r>
            <a:endParaRPr lang="en-MY" sz="1100" dirty="0"/>
          </a:p>
        </p:txBody>
      </p:sp>
      <p:pic>
        <p:nvPicPr>
          <p:cNvPr id="4" name="Picture 3">
            <a:extLst>
              <a:ext uri="{FF2B5EF4-FFF2-40B4-BE49-F238E27FC236}">
                <a16:creationId xmlns:a16="http://schemas.microsoft.com/office/drawing/2014/main" id="{48B95BBC-CA77-2DC4-398D-568E96BE3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8662" y="2467296"/>
            <a:ext cx="6011114" cy="1476581"/>
          </a:xfrm>
          <a:prstGeom prst="rect">
            <a:avLst/>
          </a:prstGeom>
        </p:spPr>
      </p:pic>
    </p:spTree>
    <p:extLst>
      <p:ext uri="{BB962C8B-B14F-4D97-AF65-F5344CB8AC3E}">
        <p14:creationId xmlns:p14="http://schemas.microsoft.com/office/powerpoint/2010/main" val="972590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4FA4D-4F0B-6048-CAFA-9E303C287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F7771-65E1-E8EC-4C57-D847B7EE7AC8}"/>
              </a:ext>
            </a:extLst>
          </p:cNvPr>
          <p:cNvSpPr>
            <a:spLocks noGrp="1"/>
          </p:cNvSpPr>
          <p:nvPr>
            <p:ph type="title"/>
          </p:nvPr>
        </p:nvSpPr>
        <p:spPr/>
        <p:txBody>
          <a:bodyPr/>
          <a:lstStyle/>
          <a:p>
            <a:r>
              <a:rPr lang="en-GB" sz="5400" dirty="0"/>
              <a:t>Summaries: Reviews</a:t>
            </a:r>
            <a:endParaRPr lang="en-MY" dirty="0"/>
          </a:p>
        </p:txBody>
      </p:sp>
      <p:sp>
        <p:nvSpPr>
          <p:cNvPr id="16" name="TextBox 15">
            <a:extLst>
              <a:ext uri="{FF2B5EF4-FFF2-40B4-BE49-F238E27FC236}">
                <a16:creationId xmlns:a16="http://schemas.microsoft.com/office/drawing/2014/main" id="{8675BE60-B884-D243-0ABC-C00D55F8FE38}"/>
              </a:ext>
            </a:extLst>
          </p:cNvPr>
          <p:cNvSpPr txBox="1"/>
          <p:nvPr/>
        </p:nvSpPr>
        <p:spPr>
          <a:xfrm>
            <a:off x="645327" y="1664175"/>
            <a:ext cx="10537785" cy="369332"/>
          </a:xfrm>
          <a:prstGeom prst="rect">
            <a:avLst/>
          </a:prstGeom>
          <a:noFill/>
        </p:spPr>
        <p:txBody>
          <a:bodyPr wrap="square" rtlCol="0">
            <a:spAutoFit/>
          </a:bodyPr>
          <a:lstStyle/>
          <a:p>
            <a:r>
              <a:rPr lang="en-GB" dirty="0"/>
              <a:t>This table shows the data based on Reviews over 10,000 in 2018.</a:t>
            </a:r>
            <a:endParaRPr lang="en-MY" dirty="0"/>
          </a:p>
        </p:txBody>
      </p:sp>
      <p:sp>
        <p:nvSpPr>
          <p:cNvPr id="17" name="TextBox 16">
            <a:extLst>
              <a:ext uri="{FF2B5EF4-FFF2-40B4-BE49-F238E27FC236}">
                <a16:creationId xmlns:a16="http://schemas.microsoft.com/office/drawing/2014/main" id="{7B6AF2B4-A417-D8D7-F011-B6011D6E5057}"/>
              </a:ext>
            </a:extLst>
          </p:cNvPr>
          <p:cNvSpPr txBox="1"/>
          <p:nvPr/>
        </p:nvSpPr>
        <p:spPr>
          <a:xfrm>
            <a:off x="645327" y="5513832"/>
            <a:ext cx="10646547" cy="646331"/>
          </a:xfrm>
          <a:prstGeom prst="rect">
            <a:avLst/>
          </a:prstGeom>
          <a:noFill/>
        </p:spPr>
        <p:txBody>
          <a:bodyPr wrap="square" rtlCol="0">
            <a:spAutoFit/>
          </a:bodyPr>
          <a:lstStyle/>
          <a:p>
            <a:r>
              <a:rPr lang="en-GB" dirty="0"/>
              <a:t>From what we can see, non-fiction books tend to have more reviews in 2018 since there is an equal number of books with the fiction and non-fiction genre category that is greater than 10,000 reviews.</a:t>
            </a:r>
            <a:endParaRPr lang="en-MY" dirty="0"/>
          </a:p>
        </p:txBody>
      </p:sp>
      <p:sp>
        <p:nvSpPr>
          <p:cNvPr id="18" name="TextBox 17">
            <a:extLst>
              <a:ext uri="{FF2B5EF4-FFF2-40B4-BE49-F238E27FC236}">
                <a16:creationId xmlns:a16="http://schemas.microsoft.com/office/drawing/2014/main" id="{956DCC79-9E38-66BD-CFA9-9A0547DF0334}"/>
              </a:ext>
            </a:extLst>
          </p:cNvPr>
          <p:cNvSpPr txBox="1"/>
          <p:nvPr/>
        </p:nvSpPr>
        <p:spPr>
          <a:xfrm>
            <a:off x="645327" y="5066993"/>
            <a:ext cx="10537783" cy="261610"/>
          </a:xfrm>
          <a:prstGeom prst="rect">
            <a:avLst/>
          </a:prstGeom>
          <a:noFill/>
        </p:spPr>
        <p:txBody>
          <a:bodyPr wrap="square" rtlCol="0">
            <a:spAutoFit/>
          </a:bodyPr>
          <a:lstStyle/>
          <a:p>
            <a:r>
              <a:rPr lang="en-GB" sz="1100" dirty="0"/>
              <a:t>This shows the top 15 rows with the greatest number of reviews. Overall, there is 26 books that have over 10,000 reviews</a:t>
            </a:r>
            <a:endParaRPr lang="en-MY" sz="1100" dirty="0"/>
          </a:p>
        </p:txBody>
      </p:sp>
      <p:pic>
        <p:nvPicPr>
          <p:cNvPr id="4" name="Picture 3">
            <a:extLst>
              <a:ext uri="{FF2B5EF4-FFF2-40B4-BE49-F238E27FC236}">
                <a16:creationId xmlns:a16="http://schemas.microsoft.com/office/drawing/2014/main" id="{9BA59DD8-29EE-F249-FAB8-B638C65E90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5513" y="2068849"/>
            <a:ext cx="6630325" cy="2905530"/>
          </a:xfrm>
          <a:prstGeom prst="rect">
            <a:avLst/>
          </a:prstGeom>
        </p:spPr>
      </p:pic>
    </p:spTree>
    <p:extLst>
      <p:ext uri="{BB962C8B-B14F-4D97-AF65-F5344CB8AC3E}">
        <p14:creationId xmlns:p14="http://schemas.microsoft.com/office/powerpoint/2010/main" val="820566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2B5BD-2A29-5F0F-03C9-C25B4BDC6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8D295-E401-CFE4-92EC-F9C7057CA57C}"/>
              </a:ext>
            </a:extLst>
          </p:cNvPr>
          <p:cNvSpPr>
            <a:spLocks noGrp="1"/>
          </p:cNvSpPr>
          <p:nvPr>
            <p:ph type="title"/>
          </p:nvPr>
        </p:nvSpPr>
        <p:spPr/>
        <p:txBody>
          <a:bodyPr/>
          <a:lstStyle/>
          <a:p>
            <a:r>
              <a:rPr lang="en-GB" sz="5400" dirty="0"/>
              <a:t>Own Summaries: Price</a:t>
            </a:r>
            <a:endParaRPr lang="en-MY" dirty="0"/>
          </a:p>
        </p:txBody>
      </p:sp>
      <p:sp>
        <p:nvSpPr>
          <p:cNvPr id="16" name="TextBox 15">
            <a:extLst>
              <a:ext uri="{FF2B5EF4-FFF2-40B4-BE49-F238E27FC236}">
                <a16:creationId xmlns:a16="http://schemas.microsoft.com/office/drawing/2014/main" id="{CC2E40D0-B8F8-D622-1DBD-B367E7D5AC26}"/>
              </a:ext>
            </a:extLst>
          </p:cNvPr>
          <p:cNvSpPr txBox="1"/>
          <p:nvPr/>
        </p:nvSpPr>
        <p:spPr>
          <a:xfrm>
            <a:off x="645327" y="1664175"/>
            <a:ext cx="10537785" cy="369332"/>
          </a:xfrm>
          <a:prstGeom prst="rect">
            <a:avLst/>
          </a:prstGeom>
          <a:noFill/>
        </p:spPr>
        <p:txBody>
          <a:bodyPr wrap="square" rtlCol="0">
            <a:spAutoFit/>
          </a:bodyPr>
          <a:lstStyle/>
          <a:p>
            <a:r>
              <a:rPr lang="en-GB" dirty="0"/>
              <a:t>These tables show the most expensive books for each year.</a:t>
            </a:r>
            <a:endParaRPr lang="en-MY" dirty="0"/>
          </a:p>
        </p:txBody>
      </p:sp>
      <p:sp>
        <p:nvSpPr>
          <p:cNvPr id="17" name="TextBox 16">
            <a:extLst>
              <a:ext uri="{FF2B5EF4-FFF2-40B4-BE49-F238E27FC236}">
                <a16:creationId xmlns:a16="http://schemas.microsoft.com/office/drawing/2014/main" id="{25F20B06-7746-2111-382C-BA9D103C5ADE}"/>
              </a:ext>
            </a:extLst>
          </p:cNvPr>
          <p:cNvSpPr txBox="1"/>
          <p:nvPr/>
        </p:nvSpPr>
        <p:spPr>
          <a:xfrm>
            <a:off x="645327" y="5513832"/>
            <a:ext cx="10646547" cy="646331"/>
          </a:xfrm>
          <a:prstGeom prst="rect">
            <a:avLst/>
          </a:prstGeom>
          <a:noFill/>
        </p:spPr>
        <p:txBody>
          <a:bodyPr wrap="square" rtlCol="0">
            <a:spAutoFit/>
          </a:bodyPr>
          <a:lstStyle/>
          <a:p>
            <a:r>
              <a:rPr lang="en-GB" dirty="0"/>
              <a:t>Based on the first 2 years, the most expensive type of books are generally non-fiction books followed by a collection of books (generally fiction and with their sequential titles)</a:t>
            </a:r>
            <a:endParaRPr lang="en-MY" dirty="0"/>
          </a:p>
        </p:txBody>
      </p:sp>
      <p:sp>
        <p:nvSpPr>
          <p:cNvPr id="18" name="TextBox 17">
            <a:extLst>
              <a:ext uri="{FF2B5EF4-FFF2-40B4-BE49-F238E27FC236}">
                <a16:creationId xmlns:a16="http://schemas.microsoft.com/office/drawing/2014/main" id="{CD59E5F4-DA11-6800-8E63-113971030D77}"/>
              </a:ext>
            </a:extLst>
          </p:cNvPr>
          <p:cNvSpPr txBox="1"/>
          <p:nvPr/>
        </p:nvSpPr>
        <p:spPr>
          <a:xfrm>
            <a:off x="645327" y="5066993"/>
            <a:ext cx="10537783" cy="261610"/>
          </a:xfrm>
          <a:prstGeom prst="rect">
            <a:avLst/>
          </a:prstGeom>
          <a:noFill/>
        </p:spPr>
        <p:txBody>
          <a:bodyPr wrap="square" rtlCol="0">
            <a:spAutoFit/>
          </a:bodyPr>
          <a:lstStyle/>
          <a:p>
            <a:r>
              <a:rPr lang="en-GB" sz="1100" dirty="0"/>
              <a:t>The two tables show the title/name of the book, author, price, year it was within the top 50 and the genre. The two table specifically displays for the years 2009 and 2010. </a:t>
            </a:r>
            <a:endParaRPr lang="en-MY" sz="1100" dirty="0"/>
          </a:p>
        </p:txBody>
      </p:sp>
      <p:pic>
        <p:nvPicPr>
          <p:cNvPr id="9" name="Picture 8">
            <a:extLst>
              <a:ext uri="{FF2B5EF4-FFF2-40B4-BE49-F238E27FC236}">
                <a16:creationId xmlns:a16="http://schemas.microsoft.com/office/drawing/2014/main" id="{A2ACD4AD-E2DD-9772-1D8C-8AB59F4BA5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327" y="2099078"/>
            <a:ext cx="4709137" cy="2895725"/>
          </a:xfrm>
          <a:prstGeom prst="rect">
            <a:avLst/>
          </a:prstGeom>
        </p:spPr>
      </p:pic>
      <p:pic>
        <p:nvPicPr>
          <p:cNvPr id="11" name="Picture 10">
            <a:extLst>
              <a:ext uri="{FF2B5EF4-FFF2-40B4-BE49-F238E27FC236}">
                <a16:creationId xmlns:a16="http://schemas.microsoft.com/office/drawing/2014/main" id="{1245D46D-3BBD-10C7-3556-8EDD6C547FA0}"/>
              </a:ext>
            </a:extLst>
          </p:cNvPr>
          <p:cNvPicPr>
            <a:picLocks noChangeAspect="1"/>
          </p:cNvPicPr>
          <p:nvPr/>
        </p:nvPicPr>
        <p:blipFill>
          <a:blip r:embed="rId4">
            <a:extLst>
              <a:ext uri="{28A0092B-C50C-407E-A947-70E740481C1C}">
                <a14:useLocalDpi xmlns:a14="http://schemas.microsoft.com/office/drawing/2010/main" val="0"/>
              </a:ext>
            </a:extLst>
          </a:blip>
          <a:srcRect t="519"/>
          <a:stretch/>
        </p:blipFill>
        <p:spPr>
          <a:xfrm>
            <a:off x="6257076" y="2099078"/>
            <a:ext cx="4731040" cy="2895725"/>
          </a:xfrm>
          <a:prstGeom prst="rect">
            <a:avLst/>
          </a:prstGeom>
        </p:spPr>
      </p:pic>
    </p:spTree>
    <p:extLst>
      <p:ext uri="{BB962C8B-B14F-4D97-AF65-F5344CB8AC3E}">
        <p14:creationId xmlns:p14="http://schemas.microsoft.com/office/powerpoint/2010/main" val="3491260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3992A-1EAD-B06B-5E21-7F8BE7FFF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8CDCF8-FF75-D24D-2E8B-843E0B555577}"/>
              </a:ext>
            </a:extLst>
          </p:cNvPr>
          <p:cNvSpPr>
            <a:spLocks noGrp="1"/>
          </p:cNvSpPr>
          <p:nvPr>
            <p:ph type="title"/>
          </p:nvPr>
        </p:nvSpPr>
        <p:spPr>
          <a:xfrm>
            <a:off x="919119" y="459673"/>
            <a:ext cx="10353762" cy="970450"/>
          </a:xfrm>
        </p:spPr>
        <p:txBody>
          <a:bodyPr>
            <a:normAutofit fontScale="90000"/>
          </a:bodyPr>
          <a:lstStyle/>
          <a:p>
            <a:r>
              <a:rPr lang="en-GB" sz="5400" dirty="0"/>
              <a:t>Own Summaries: User Rating &amp; Reviews</a:t>
            </a:r>
            <a:endParaRPr lang="en-MY" dirty="0"/>
          </a:p>
        </p:txBody>
      </p:sp>
      <p:sp>
        <p:nvSpPr>
          <p:cNvPr id="16" name="TextBox 15">
            <a:extLst>
              <a:ext uri="{FF2B5EF4-FFF2-40B4-BE49-F238E27FC236}">
                <a16:creationId xmlns:a16="http://schemas.microsoft.com/office/drawing/2014/main" id="{F589C715-A4C6-11F1-ACE2-F316C9684041}"/>
              </a:ext>
            </a:extLst>
          </p:cNvPr>
          <p:cNvSpPr txBox="1"/>
          <p:nvPr/>
        </p:nvSpPr>
        <p:spPr>
          <a:xfrm>
            <a:off x="645327" y="1664175"/>
            <a:ext cx="10537785" cy="369332"/>
          </a:xfrm>
          <a:prstGeom prst="rect">
            <a:avLst/>
          </a:prstGeom>
          <a:noFill/>
        </p:spPr>
        <p:txBody>
          <a:bodyPr wrap="square" rtlCol="0">
            <a:spAutoFit/>
          </a:bodyPr>
          <a:lstStyle/>
          <a:p>
            <a:r>
              <a:rPr lang="en-GB" dirty="0"/>
              <a:t>The table displays the reviews in descending alongside user rating and price</a:t>
            </a:r>
            <a:endParaRPr lang="en-MY" dirty="0"/>
          </a:p>
        </p:txBody>
      </p:sp>
      <p:sp>
        <p:nvSpPr>
          <p:cNvPr id="17" name="TextBox 16">
            <a:extLst>
              <a:ext uri="{FF2B5EF4-FFF2-40B4-BE49-F238E27FC236}">
                <a16:creationId xmlns:a16="http://schemas.microsoft.com/office/drawing/2014/main" id="{D24BF438-0FF1-BFE9-1678-11C919D6DCFC}"/>
              </a:ext>
            </a:extLst>
          </p:cNvPr>
          <p:cNvSpPr txBox="1"/>
          <p:nvPr/>
        </p:nvSpPr>
        <p:spPr>
          <a:xfrm>
            <a:off x="645326" y="5429707"/>
            <a:ext cx="10646547" cy="1323439"/>
          </a:xfrm>
          <a:prstGeom prst="rect">
            <a:avLst/>
          </a:prstGeom>
          <a:noFill/>
        </p:spPr>
        <p:txBody>
          <a:bodyPr wrap="square" rtlCol="0">
            <a:spAutoFit/>
          </a:bodyPr>
          <a:lstStyle/>
          <a:p>
            <a:r>
              <a:rPr lang="en-GB" sz="1600" dirty="0"/>
              <a:t>As mentioned previously, there are books that are the same with different pricing likely due to difference in the physical product like paperback or hardback. </a:t>
            </a:r>
          </a:p>
          <a:p>
            <a:endParaRPr lang="en-MY" sz="1600" dirty="0"/>
          </a:p>
          <a:p>
            <a:r>
              <a:rPr lang="en-MY" sz="1600" dirty="0"/>
              <a:t>Number of reviews seems to be independent of both user rating and price based on the table with rather minor correlation.</a:t>
            </a:r>
            <a:endParaRPr lang="en-GB" sz="1600" dirty="0"/>
          </a:p>
        </p:txBody>
      </p:sp>
      <p:sp>
        <p:nvSpPr>
          <p:cNvPr id="18" name="TextBox 17">
            <a:extLst>
              <a:ext uri="{FF2B5EF4-FFF2-40B4-BE49-F238E27FC236}">
                <a16:creationId xmlns:a16="http://schemas.microsoft.com/office/drawing/2014/main" id="{047DB791-9BCA-F47B-7B0E-78C595820B36}"/>
              </a:ext>
            </a:extLst>
          </p:cNvPr>
          <p:cNvSpPr txBox="1"/>
          <p:nvPr/>
        </p:nvSpPr>
        <p:spPr>
          <a:xfrm>
            <a:off x="645326" y="5168097"/>
            <a:ext cx="10537783" cy="261610"/>
          </a:xfrm>
          <a:prstGeom prst="rect">
            <a:avLst/>
          </a:prstGeom>
          <a:noFill/>
        </p:spPr>
        <p:txBody>
          <a:bodyPr wrap="square" rtlCol="0">
            <a:spAutoFit/>
          </a:bodyPr>
          <a:lstStyle/>
          <a:p>
            <a:r>
              <a:rPr lang="en-GB" sz="1100" dirty="0"/>
              <a:t>The table is independent of the year and displays different books with unique rows</a:t>
            </a:r>
            <a:endParaRPr lang="en-MY" sz="1100" dirty="0"/>
          </a:p>
        </p:txBody>
      </p:sp>
      <p:pic>
        <p:nvPicPr>
          <p:cNvPr id="4" name="Picture 3">
            <a:extLst>
              <a:ext uri="{FF2B5EF4-FFF2-40B4-BE49-F238E27FC236}">
                <a16:creationId xmlns:a16="http://schemas.microsoft.com/office/drawing/2014/main" id="{44E5DADC-7237-4275-13E0-1D3149717D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7047" y="1999331"/>
            <a:ext cx="5663106" cy="3095220"/>
          </a:xfrm>
          <a:prstGeom prst="rect">
            <a:avLst/>
          </a:prstGeom>
        </p:spPr>
      </p:pic>
    </p:spTree>
    <p:extLst>
      <p:ext uri="{BB962C8B-B14F-4D97-AF65-F5344CB8AC3E}">
        <p14:creationId xmlns:p14="http://schemas.microsoft.com/office/powerpoint/2010/main" val="719061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6A6D94-6C53-E441-ADC9-C3BC5270D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5EC8E-9638-0DFD-7858-6E46AD958E6F}"/>
              </a:ext>
            </a:extLst>
          </p:cNvPr>
          <p:cNvSpPr>
            <a:spLocks noGrp="1"/>
          </p:cNvSpPr>
          <p:nvPr>
            <p:ph type="title"/>
          </p:nvPr>
        </p:nvSpPr>
        <p:spPr>
          <a:xfrm>
            <a:off x="919119" y="459673"/>
            <a:ext cx="10353762" cy="970450"/>
          </a:xfrm>
        </p:spPr>
        <p:txBody>
          <a:bodyPr>
            <a:normAutofit/>
          </a:bodyPr>
          <a:lstStyle/>
          <a:p>
            <a:r>
              <a:rPr lang="en-GB" sz="5400" dirty="0"/>
              <a:t>Own Summaries</a:t>
            </a:r>
            <a:endParaRPr lang="en-MY" dirty="0"/>
          </a:p>
        </p:txBody>
      </p:sp>
      <p:sp>
        <p:nvSpPr>
          <p:cNvPr id="16" name="TextBox 15">
            <a:extLst>
              <a:ext uri="{FF2B5EF4-FFF2-40B4-BE49-F238E27FC236}">
                <a16:creationId xmlns:a16="http://schemas.microsoft.com/office/drawing/2014/main" id="{74C680B7-260B-04F4-1FF2-BB0D62F85CD3}"/>
              </a:ext>
            </a:extLst>
          </p:cNvPr>
          <p:cNvSpPr txBox="1"/>
          <p:nvPr/>
        </p:nvSpPr>
        <p:spPr>
          <a:xfrm>
            <a:off x="645327" y="1664175"/>
            <a:ext cx="10537785" cy="369332"/>
          </a:xfrm>
          <a:prstGeom prst="rect">
            <a:avLst/>
          </a:prstGeom>
          <a:noFill/>
        </p:spPr>
        <p:txBody>
          <a:bodyPr wrap="square" rtlCol="0">
            <a:spAutoFit/>
          </a:bodyPr>
          <a:lstStyle/>
          <a:p>
            <a:r>
              <a:rPr lang="en-GB" dirty="0"/>
              <a:t>This data demonstrates the books that are in the top 50 more than once </a:t>
            </a:r>
            <a:endParaRPr lang="en-MY" dirty="0"/>
          </a:p>
        </p:txBody>
      </p:sp>
      <p:sp>
        <p:nvSpPr>
          <p:cNvPr id="17" name="TextBox 16">
            <a:extLst>
              <a:ext uri="{FF2B5EF4-FFF2-40B4-BE49-F238E27FC236}">
                <a16:creationId xmlns:a16="http://schemas.microsoft.com/office/drawing/2014/main" id="{972BA25A-1F06-0BBE-2387-548AD5BEAD08}"/>
              </a:ext>
            </a:extLst>
          </p:cNvPr>
          <p:cNvSpPr txBox="1"/>
          <p:nvPr/>
        </p:nvSpPr>
        <p:spPr>
          <a:xfrm>
            <a:off x="645326" y="5429707"/>
            <a:ext cx="10646547" cy="584775"/>
          </a:xfrm>
          <a:prstGeom prst="rect">
            <a:avLst/>
          </a:prstGeom>
          <a:noFill/>
        </p:spPr>
        <p:txBody>
          <a:bodyPr wrap="square" rtlCol="0">
            <a:spAutoFit/>
          </a:bodyPr>
          <a:lstStyle/>
          <a:p>
            <a:r>
              <a:rPr lang="en-GB" sz="1600" dirty="0"/>
              <a:t>As we can see from the table quite a few books has made it into the top 50 best seller more than once. From number 1 and 2 we can see that these books has made into the top 50 best seller every year (2009-2019)</a:t>
            </a:r>
          </a:p>
        </p:txBody>
      </p:sp>
      <p:pic>
        <p:nvPicPr>
          <p:cNvPr id="5" name="Picture 4">
            <a:extLst>
              <a:ext uri="{FF2B5EF4-FFF2-40B4-BE49-F238E27FC236}">
                <a16:creationId xmlns:a16="http://schemas.microsoft.com/office/drawing/2014/main" id="{3259D797-DC71-1C37-D128-B8353B9A70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13476" y="2112709"/>
            <a:ext cx="5601482" cy="2924583"/>
          </a:xfrm>
          <a:prstGeom prst="rect">
            <a:avLst/>
          </a:prstGeom>
        </p:spPr>
      </p:pic>
    </p:spTree>
    <p:extLst>
      <p:ext uri="{BB962C8B-B14F-4D97-AF65-F5344CB8AC3E}">
        <p14:creationId xmlns:p14="http://schemas.microsoft.com/office/powerpoint/2010/main" val="2726807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8C49-BC93-11FD-AFC9-E994E517E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FD9505-496C-FAE1-E649-07C2AE8AED86}"/>
              </a:ext>
            </a:extLst>
          </p:cNvPr>
          <p:cNvSpPr>
            <a:spLocks noGrp="1"/>
          </p:cNvSpPr>
          <p:nvPr>
            <p:ph type="title"/>
          </p:nvPr>
        </p:nvSpPr>
        <p:spPr>
          <a:xfrm>
            <a:off x="919119" y="459673"/>
            <a:ext cx="10353762" cy="970450"/>
          </a:xfrm>
        </p:spPr>
        <p:txBody>
          <a:bodyPr>
            <a:normAutofit/>
          </a:bodyPr>
          <a:lstStyle/>
          <a:p>
            <a:r>
              <a:rPr lang="en-GB" sz="5400" dirty="0"/>
              <a:t>Own Summaries</a:t>
            </a:r>
            <a:endParaRPr lang="en-MY" dirty="0"/>
          </a:p>
        </p:txBody>
      </p:sp>
      <p:sp>
        <p:nvSpPr>
          <p:cNvPr id="16" name="TextBox 15">
            <a:extLst>
              <a:ext uri="{FF2B5EF4-FFF2-40B4-BE49-F238E27FC236}">
                <a16:creationId xmlns:a16="http://schemas.microsoft.com/office/drawing/2014/main" id="{B74AB48E-CFD5-9E2E-5FCE-DC32E83297A7}"/>
              </a:ext>
            </a:extLst>
          </p:cNvPr>
          <p:cNvSpPr txBox="1"/>
          <p:nvPr/>
        </p:nvSpPr>
        <p:spPr>
          <a:xfrm>
            <a:off x="645326" y="1570809"/>
            <a:ext cx="10537785" cy="369332"/>
          </a:xfrm>
          <a:prstGeom prst="rect">
            <a:avLst/>
          </a:prstGeom>
          <a:noFill/>
        </p:spPr>
        <p:txBody>
          <a:bodyPr wrap="square" rtlCol="0">
            <a:spAutoFit/>
          </a:bodyPr>
          <a:lstStyle/>
          <a:p>
            <a:r>
              <a:rPr lang="en-GB" dirty="0"/>
              <a:t>This data shows the total number of times an author has come up in the overall dataset</a:t>
            </a:r>
            <a:endParaRPr lang="en-MY" dirty="0"/>
          </a:p>
        </p:txBody>
      </p:sp>
      <p:sp>
        <p:nvSpPr>
          <p:cNvPr id="17" name="TextBox 16">
            <a:extLst>
              <a:ext uri="{FF2B5EF4-FFF2-40B4-BE49-F238E27FC236}">
                <a16:creationId xmlns:a16="http://schemas.microsoft.com/office/drawing/2014/main" id="{E594E788-A3DA-883C-CBB4-C9BF7B3CCB81}"/>
              </a:ext>
            </a:extLst>
          </p:cNvPr>
          <p:cNvSpPr txBox="1"/>
          <p:nvPr/>
        </p:nvSpPr>
        <p:spPr>
          <a:xfrm>
            <a:off x="645326" y="2584622"/>
            <a:ext cx="7107808" cy="2062103"/>
          </a:xfrm>
          <a:prstGeom prst="rect">
            <a:avLst/>
          </a:prstGeom>
          <a:noFill/>
        </p:spPr>
        <p:txBody>
          <a:bodyPr wrap="square" rtlCol="0">
            <a:spAutoFit/>
          </a:bodyPr>
          <a:lstStyle/>
          <a:p>
            <a:r>
              <a:rPr lang="en-GB" sz="1600" dirty="0"/>
              <a:t>This table could indicate how popular an author is based on the frequency his/her works has made it into the top 50.</a:t>
            </a:r>
          </a:p>
          <a:p>
            <a:endParaRPr lang="en-GB" sz="1600" dirty="0"/>
          </a:p>
          <a:p>
            <a:r>
              <a:rPr lang="en-GB" sz="1600" dirty="0"/>
              <a:t>It combines the books that make into the top 50 multiple years and the different works of the same author that makes it into the top 50.</a:t>
            </a:r>
          </a:p>
          <a:p>
            <a:endParaRPr lang="en-GB" sz="1600" dirty="0"/>
          </a:p>
          <a:p>
            <a:r>
              <a:rPr lang="en-GB" sz="1600" dirty="0"/>
              <a:t>From numbers 1 we can infer that each author has at least more than book placed within the top 50 within a single year at some point between 2009-2019</a:t>
            </a:r>
          </a:p>
        </p:txBody>
      </p:sp>
      <p:pic>
        <p:nvPicPr>
          <p:cNvPr id="4" name="Picture 3">
            <a:extLst>
              <a:ext uri="{FF2B5EF4-FFF2-40B4-BE49-F238E27FC236}">
                <a16:creationId xmlns:a16="http://schemas.microsoft.com/office/drawing/2014/main" id="{9CF7E943-8887-79EC-269A-B2F4785C61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96580" y="1940141"/>
            <a:ext cx="3086531" cy="3781953"/>
          </a:xfrm>
          <a:prstGeom prst="rect">
            <a:avLst/>
          </a:prstGeom>
        </p:spPr>
      </p:pic>
    </p:spTree>
    <p:extLst>
      <p:ext uri="{BB962C8B-B14F-4D97-AF65-F5344CB8AC3E}">
        <p14:creationId xmlns:p14="http://schemas.microsoft.com/office/powerpoint/2010/main" val="3473666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25140-676D-EA40-574C-4C997ED513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1470D-FFD3-ABD2-D10D-7F2F8CC9CE2F}"/>
              </a:ext>
            </a:extLst>
          </p:cNvPr>
          <p:cNvSpPr>
            <a:spLocks noGrp="1"/>
          </p:cNvSpPr>
          <p:nvPr>
            <p:ph type="title"/>
          </p:nvPr>
        </p:nvSpPr>
        <p:spPr>
          <a:xfrm>
            <a:off x="919119" y="459673"/>
            <a:ext cx="10353762" cy="970450"/>
          </a:xfrm>
        </p:spPr>
        <p:txBody>
          <a:bodyPr>
            <a:normAutofit/>
          </a:bodyPr>
          <a:lstStyle/>
          <a:p>
            <a:r>
              <a:rPr lang="en-GB" sz="5400" dirty="0"/>
              <a:t>Own Summaries</a:t>
            </a:r>
            <a:endParaRPr lang="en-MY" dirty="0"/>
          </a:p>
        </p:txBody>
      </p:sp>
      <p:sp>
        <p:nvSpPr>
          <p:cNvPr id="16" name="TextBox 15">
            <a:extLst>
              <a:ext uri="{FF2B5EF4-FFF2-40B4-BE49-F238E27FC236}">
                <a16:creationId xmlns:a16="http://schemas.microsoft.com/office/drawing/2014/main" id="{88C66501-F6C8-D5C3-73FD-F8E6AF1B6800}"/>
              </a:ext>
            </a:extLst>
          </p:cNvPr>
          <p:cNvSpPr txBox="1"/>
          <p:nvPr/>
        </p:nvSpPr>
        <p:spPr>
          <a:xfrm>
            <a:off x="645326" y="1570809"/>
            <a:ext cx="10537785" cy="369332"/>
          </a:xfrm>
          <a:prstGeom prst="rect">
            <a:avLst/>
          </a:prstGeom>
          <a:noFill/>
        </p:spPr>
        <p:txBody>
          <a:bodyPr wrap="square" rtlCol="0">
            <a:spAutoFit/>
          </a:bodyPr>
          <a:lstStyle/>
          <a:p>
            <a:r>
              <a:rPr lang="en-GB" dirty="0"/>
              <a:t>Table of the author that appears the most</a:t>
            </a:r>
            <a:endParaRPr lang="en-MY" dirty="0"/>
          </a:p>
        </p:txBody>
      </p:sp>
      <p:sp>
        <p:nvSpPr>
          <p:cNvPr id="17" name="TextBox 16">
            <a:extLst>
              <a:ext uri="{FF2B5EF4-FFF2-40B4-BE49-F238E27FC236}">
                <a16:creationId xmlns:a16="http://schemas.microsoft.com/office/drawing/2014/main" id="{A42A9D45-D873-5C7B-BBBF-A112EA0BC9DC}"/>
              </a:ext>
            </a:extLst>
          </p:cNvPr>
          <p:cNvSpPr txBox="1"/>
          <p:nvPr/>
        </p:nvSpPr>
        <p:spPr>
          <a:xfrm>
            <a:off x="645326" y="2584622"/>
            <a:ext cx="7107808" cy="1815882"/>
          </a:xfrm>
          <a:prstGeom prst="rect">
            <a:avLst/>
          </a:prstGeom>
          <a:noFill/>
        </p:spPr>
        <p:txBody>
          <a:bodyPr wrap="square" rtlCol="0">
            <a:spAutoFit/>
          </a:bodyPr>
          <a:lstStyle/>
          <a:p>
            <a:r>
              <a:rPr lang="en-GB" sz="1600" dirty="0"/>
              <a:t>In this analysis, we further pulled ‘ Jeff Kinney’  the author that appears the most within the top 50. </a:t>
            </a:r>
          </a:p>
          <a:p>
            <a:endParaRPr lang="en-GB" sz="1600" dirty="0"/>
          </a:p>
          <a:p>
            <a:r>
              <a:rPr lang="en-GB" sz="1600" dirty="0"/>
              <a:t>We can see in 2009 he has two books that has made into the top 50.</a:t>
            </a:r>
          </a:p>
          <a:p>
            <a:endParaRPr lang="en-GB" sz="1600" dirty="0"/>
          </a:p>
          <a:p>
            <a:r>
              <a:rPr lang="en-GB" sz="1600" dirty="0"/>
              <a:t>In the subsequent years his books has consistently placed within the top 50 which suggest his book’s </a:t>
            </a:r>
            <a:r>
              <a:rPr lang="en-GB" sz="1600"/>
              <a:t>series popularity.</a:t>
            </a:r>
            <a:endParaRPr lang="en-MY" sz="1600" dirty="0"/>
          </a:p>
        </p:txBody>
      </p:sp>
      <p:pic>
        <p:nvPicPr>
          <p:cNvPr id="5" name="Picture 4">
            <a:extLst>
              <a:ext uri="{FF2B5EF4-FFF2-40B4-BE49-F238E27FC236}">
                <a16:creationId xmlns:a16="http://schemas.microsoft.com/office/drawing/2014/main" id="{DBCA6BFB-3801-729D-B498-C40A21CFB8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8037" y="2424882"/>
            <a:ext cx="3848637" cy="2381582"/>
          </a:xfrm>
          <a:prstGeom prst="rect">
            <a:avLst/>
          </a:prstGeom>
        </p:spPr>
      </p:pic>
    </p:spTree>
    <p:extLst>
      <p:ext uri="{BB962C8B-B14F-4D97-AF65-F5344CB8AC3E}">
        <p14:creationId xmlns:p14="http://schemas.microsoft.com/office/powerpoint/2010/main" val="14877133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353</TotalTime>
  <Words>1365</Words>
  <Application>Microsoft Office PowerPoint</Application>
  <PresentationFormat>Widescreen</PresentationFormat>
  <Paragraphs>88</Paragraphs>
  <Slides>16</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Calibri</vt:lpstr>
      <vt:lpstr>Calisto MT</vt:lpstr>
      <vt:lpstr>Wingdings 2</vt:lpstr>
      <vt:lpstr>Slate</vt:lpstr>
      <vt:lpstr>Amazon Top 50 Best Sellers Summary</vt:lpstr>
      <vt:lpstr>Overview</vt:lpstr>
      <vt:lpstr>Summaries: Fiction and Non-Fiction</vt:lpstr>
      <vt:lpstr>Summaries: Top 50 Best Sellers</vt:lpstr>
      <vt:lpstr>Summaries: Top 50 Best Sellers</vt:lpstr>
      <vt:lpstr>Summaries: Top 50 Best Sellers</vt:lpstr>
      <vt:lpstr>Summaries: Top 50 Best Sellers</vt:lpstr>
      <vt:lpstr>Summaries: Top 50 Best Sellers</vt:lpstr>
      <vt:lpstr>Summaries: Rating</vt:lpstr>
      <vt:lpstr>Own Summaries: Rating</vt:lpstr>
      <vt:lpstr>Summaries: Reviews</vt:lpstr>
      <vt:lpstr>Own Summaries: Price</vt:lpstr>
      <vt:lpstr>Own Summaries: User Rating &amp; Reviews</vt:lpstr>
      <vt:lpstr>Own Summaries</vt:lpstr>
      <vt:lpstr>Own Summaries</vt:lpstr>
      <vt:lpstr>Own Summaries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Beng Ren Siew</dc:creator>
  <cp:lastModifiedBy>Beng Ren Siew</cp:lastModifiedBy>
  <cp:revision>5</cp:revision>
  <dcterms:created xsi:type="dcterms:W3CDTF">2025-01-24T17:15:56Z</dcterms:created>
  <dcterms:modified xsi:type="dcterms:W3CDTF">2025-01-27T17:11:56Z</dcterms:modified>
</cp:coreProperties>
</file>